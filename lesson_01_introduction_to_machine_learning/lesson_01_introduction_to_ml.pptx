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6858000" cx="12192000"/>
  <p:notesSz cx="6858000" cy="9144000"/>
  <p:embeddedFontLst>
    <p:embeddedFont>
      <p:font typeface="Play"/>
      <p:regular r:id="rId38"/>
      <p:bold r:id="rId39"/>
    </p:embeddedFont>
    <p:embeddedFont>
      <p:font typeface="Lora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4" roundtripDataSignature="AMtx7mgYbdHssTVSsppgeAH4ENFJUCW4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?>
<Relationships xmlns="http://schemas.openxmlformats.org/package/2006/relationships"><Relationship Id="rId40" Type="http://schemas.openxmlformats.org/officeDocument/2006/relationships/font" Target="fonts/Lora-regular.fntdata" /><Relationship Id="rId20" Type="http://schemas.openxmlformats.org/officeDocument/2006/relationships/slide" Target="slides/slide15.xml" /><Relationship Id="rId42" Type="http://schemas.openxmlformats.org/officeDocument/2006/relationships/font" Target="fonts/Lora-italic.fntdata" /><Relationship Id="rId41" Type="http://schemas.openxmlformats.org/officeDocument/2006/relationships/font" Target="fonts/Lora-bold.fntdata" /><Relationship Id="rId22" Type="http://schemas.openxmlformats.org/officeDocument/2006/relationships/slide" Target="slides/slide17.xml" /><Relationship Id="rId44" Type="http://customschemas.google.com/relationships/presentationmetadata" Target="metadata" /><Relationship Id="rId21" Type="http://schemas.openxmlformats.org/officeDocument/2006/relationships/slide" Target="slides/slide16.xml" /><Relationship Id="rId43" Type="http://schemas.openxmlformats.org/officeDocument/2006/relationships/font" Target="fonts/Lora-boldItalic.fntdata" /><Relationship Id="rId24" Type="http://schemas.openxmlformats.org/officeDocument/2006/relationships/slide" Target="slides/slide19.xml" /><Relationship Id="rId23" Type="http://schemas.openxmlformats.org/officeDocument/2006/relationships/slide" Target="slides/slide18.xml" /><Relationship Id="rId1" Type="http://schemas.openxmlformats.org/officeDocument/2006/relationships/theme" Target="theme/theme1.xml" /><Relationship Id="rId2" Type="http://schemas.openxmlformats.org/officeDocument/2006/relationships/presProps" Target="presProps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4.xml" /><Relationship Id="rId26" Type="http://schemas.openxmlformats.org/officeDocument/2006/relationships/slide" Target="slides/slide21.xml" /><Relationship Id="rId25" Type="http://schemas.openxmlformats.org/officeDocument/2006/relationships/slide" Target="slides/slide20.xml" /><Relationship Id="rId28" Type="http://schemas.openxmlformats.org/officeDocument/2006/relationships/slide" Target="slides/slide23.xml" /><Relationship Id="rId27" Type="http://schemas.openxmlformats.org/officeDocument/2006/relationships/slide" Target="slides/slide22.xml" /><Relationship Id="rId5" Type="http://schemas.openxmlformats.org/officeDocument/2006/relationships/notesMaster" Target="notesMasters/notesMaster1.xml" /><Relationship Id="rId6" Type="http://schemas.openxmlformats.org/officeDocument/2006/relationships/slide" Target="slides/slide1.xml" /><Relationship Id="rId29" Type="http://schemas.openxmlformats.org/officeDocument/2006/relationships/slide" Target="slides/slide24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31" Type="http://schemas.openxmlformats.org/officeDocument/2006/relationships/slide" Target="slides/slide26.xml" /><Relationship Id="rId30" Type="http://schemas.openxmlformats.org/officeDocument/2006/relationships/slide" Target="slides/slide25.xml" /><Relationship Id="rId11" Type="http://schemas.openxmlformats.org/officeDocument/2006/relationships/slide" Target="slides/slide6.xml" /><Relationship Id="rId33" Type="http://schemas.openxmlformats.org/officeDocument/2006/relationships/slide" Target="slides/slide28.xml" /><Relationship Id="rId10" Type="http://schemas.openxmlformats.org/officeDocument/2006/relationships/slide" Target="slides/slide5.xml" /><Relationship Id="rId32" Type="http://schemas.openxmlformats.org/officeDocument/2006/relationships/slide" Target="slides/slide27.xml" /><Relationship Id="rId13" Type="http://schemas.openxmlformats.org/officeDocument/2006/relationships/slide" Target="slides/slide8.xml" /><Relationship Id="rId35" Type="http://schemas.openxmlformats.org/officeDocument/2006/relationships/slide" Target="slides/slide30.xml" /><Relationship Id="rId12" Type="http://schemas.openxmlformats.org/officeDocument/2006/relationships/slide" Target="slides/slide7.xml" /><Relationship Id="rId34" Type="http://schemas.openxmlformats.org/officeDocument/2006/relationships/slide" Target="slides/slide29.xml" /><Relationship Id="rId15" Type="http://schemas.openxmlformats.org/officeDocument/2006/relationships/slide" Target="slides/slide10.xml" /><Relationship Id="rId37" Type="http://schemas.openxmlformats.org/officeDocument/2006/relationships/slide" Target="slides/slide32.xml" /><Relationship Id="rId14" Type="http://schemas.openxmlformats.org/officeDocument/2006/relationships/slide" Target="slides/slide9.xml" /><Relationship Id="rId36" Type="http://schemas.openxmlformats.org/officeDocument/2006/relationships/slide" Target="slides/slide31.xml" /><Relationship Id="rId17" Type="http://schemas.openxmlformats.org/officeDocument/2006/relationships/slide" Target="slides/slide12.xml" /><Relationship Id="rId39" Type="http://schemas.openxmlformats.org/officeDocument/2006/relationships/font" Target="fonts/Play-bold.fntdata" /><Relationship Id="rId16" Type="http://schemas.openxmlformats.org/officeDocument/2006/relationships/slide" Target="slides/slide11.xml" /><Relationship Id="rId38" Type="http://schemas.openxmlformats.org/officeDocument/2006/relationships/font" Target="fonts/Play-regular.fntdata" /><Relationship Id="rId19" Type="http://schemas.openxmlformats.org/officeDocument/2006/relationships/slide" Target="slides/slide14.xml" /><Relationship Id="rId18" Type="http://schemas.openxmlformats.org/officeDocument/2006/relationships/slide" Target="slides/slide13.xml" 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png"/><Relationship Id="rId3" Type="http://schemas.openxmlformats.org/officeDocument/2006/relationships/image" Target="../media/image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78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78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8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2" name="Google Shape;62;p9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9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79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9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" name="Google Shape;69;p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7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Заголовок">
  <p:cSld name="1_Заголовок">
    <p:bg>
      <p:bgPr>
        <a:solidFill>
          <a:schemeClr val="lt2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4" name="Google Shape;74;p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32580" y="692150"/>
            <a:ext cx="1800608" cy="31801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7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87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87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80" name="Google Shape;80;p8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8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0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80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86" name="Google Shape;86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4" y="5882757"/>
            <a:ext cx="1800608" cy="31801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80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8" name="Google Shape;88;p8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6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86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86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93" name="Google Shape;93;p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8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1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8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99" name="Google Shape;99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8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6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9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96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96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96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96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96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09" name="Google Shape;109;p9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9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5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3" name="Google Shape;113;p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8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8"/>
          <p:cNvSpPr txBox="1"/>
          <p:nvPr>
            <p:ph idx="1" type="body"/>
          </p:nvPr>
        </p:nvSpPr>
        <p:spPr>
          <a:xfrm>
            <a:off x="658813" y="4728128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88"/>
          <p:cNvSpPr txBox="1"/>
          <p:nvPr>
            <p:ph type="title"/>
          </p:nvPr>
        </p:nvSpPr>
        <p:spPr>
          <a:xfrm>
            <a:off x="622261" y="2783175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88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8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8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9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8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89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89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8" name="Google Shape;128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8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4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9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9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9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9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8" name="Google Shape;138;p9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9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7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97"/>
          <p:cNvSpPr txBox="1"/>
          <p:nvPr>
            <p:ph idx="2" type="body"/>
          </p:nvPr>
        </p:nvSpPr>
        <p:spPr>
          <a:xfrm>
            <a:off x="3359150" y="4646741"/>
            <a:ext cx="8200516" cy="318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97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97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0"/>
              <a:buFont typeface="Arial"/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97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46" name="Google Shape;146;p9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9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8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98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98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2" name="Google Shape;152;p9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9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9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6" name="Google Shape;156;p99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p99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9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99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160" name="Google Shape;160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9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0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100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00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66" name="Google Shape;166;p10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0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1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p101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1" name="Google Shape;171;p101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72" name="Google Shape;172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0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2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p102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7" name="Google Shape;177;p10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78" name="Google Shape;178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0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0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03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103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103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85" name="Google Shape;185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0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4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04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90" name="Google Shape;190;p104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91" name="Google Shape;191;p10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0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bg>
      <p:bgPr>
        <a:solidFill>
          <a:schemeClr val="dk2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105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200"/>
              <a:buChar char="−"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97" name="Google Shape;197;p10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4" y="5882757"/>
            <a:ext cx="1800608" cy="318018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0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2"/>
                </a:solidFill>
              </a:defRPr>
            </a:lvl1pPr>
            <a:lvl2pPr lvl="1">
              <a:buNone/>
              <a:defRPr>
                <a:solidFill>
                  <a:schemeClr val="lt2"/>
                </a:solidFill>
              </a:defRPr>
            </a:lvl2pPr>
            <a:lvl3pPr lvl="2">
              <a:buNone/>
              <a:defRPr>
                <a:solidFill>
                  <a:schemeClr val="lt2"/>
                </a:solidFill>
              </a:defRPr>
            </a:lvl3pPr>
            <a:lvl4pPr lvl="3">
              <a:buNone/>
              <a:defRPr>
                <a:solidFill>
                  <a:schemeClr val="lt2"/>
                </a:solidFill>
              </a:defRPr>
            </a:lvl4pPr>
            <a:lvl5pPr lvl="4">
              <a:buNone/>
              <a:defRPr>
                <a:solidFill>
                  <a:schemeClr val="lt2"/>
                </a:solidFill>
              </a:defRPr>
            </a:lvl5pPr>
            <a:lvl6pPr lvl="5">
              <a:buNone/>
              <a:defRPr>
                <a:solidFill>
                  <a:schemeClr val="lt2"/>
                </a:solidFill>
              </a:defRPr>
            </a:lvl6pPr>
            <a:lvl7pPr lvl="6">
              <a:buNone/>
              <a:defRPr>
                <a:solidFill>
                  <a:schemeClr val="lt2"/>
                </a:solidFill>
              </a:defRPr>
            </a:lvl7pPr>
            <a:lvl8pPr lvl="7">
              <a:buNone/>
              <a:defRPr>
                <a:solidFill>
                  <a:schemeClr val="lt2"/>
                </a:solidFill>
              </a:defRPr>
            </a:lvl8pPr>
            <a:lvl9pPr lvl="8">
              <a:buNone/>
              <a:defRPr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1" name="Google Shape;201;p9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4" y="5882757"/>
            <a:ext cx="1800608" cy="318018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9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4" y="5882757"/>
            <a:ext cx="1800608" cy="318018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8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6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1" name="Google Shape;211;p10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12" name="Google Shape;212;p10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0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7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6" name="Google Shape;216;p107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7" name="Google Shape;217;p10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18" name="Google Shape;218;p10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0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8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22" name="Google Shape;222;p108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108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24" name="Google Shape;224;p10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0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9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28" name="Google Shape;228;p109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109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0" name="Google Shape;230;p10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0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33" name="Google Shape;233;p110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4" name="Google Shape;234;p110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5" name="Google Shape;235;p110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110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37" name="Google Shape;237;p1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1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77"/>
          <p:cNvSpPr txBox="1"/>
          <p:nvPr>
            <p:ph idx="1" type="body"/>
          </p:nvPr>
        </p:nvSpPr>
        <p:spPr>
          <a:xfrm>
            <a:off x="658813" y="1773238"/>
            <a:ext cx="10855852" cy="367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77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77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14" name="Google Shape;14;p77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15" name="Google Shape;15;p77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16" name="Google Shape;16;p77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17" name="Google Shape;17;p77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18" name="Google Shape;18;p77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19" name="Google Shape;19;p77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20" name="Google Shape;20;p77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21" name="Google Shape;21;p77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22" name="Google Shape;22;p77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23" name="Google Shape;23;p77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24" name="Google Shape;24;p77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25" name="Google Shape;25;p77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26" name="Google Shape;26;p77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27" name="Google Shape;27;p77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28" name="Google Shape;28;p77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29" name="Google Shape;29;p77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30" name="Google Shape;30;p77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31" name="Google Shape;31;p77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</p:grpSp>
      <p:grpSp>
        <p:nvGrpSpPr>
          <p:cNvPr id="32" name="Google Shape;32;p77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77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34" name="Google Shape;34;p77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35" name="Google Shape;35;p77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36" name="Google Shape;36;p77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37" name="Google Shape;37;p77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38" name="Google Shape;38;p77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39" name="Google Shape;39;p77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40" name="Google Shape;40;p77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41" name="Google Shape;41;p77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42" name="Google Shape;42;p77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43" name="Google Shape;43;p77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44" name="Google Shape;44;p77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45" name="Google Shape;45;p77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46" name="Google Shape;46;p77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47" name="Google Shape;47;p77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48" name="Google Shape;48;p77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49" name="Google Shape;49;p77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50" name="Google Shape;50;p77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  <p:cxnSp>
          <p:nvCxnSpPr>
            <p:cNvPr id="51" name="Google Shape;51;p77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0"/>
              <a:headEnd len="sm" w="sm" type="none"/>
              <a:tailEnd len="sm" w="sm" type="none"/>
            </a:ln>
          </p:spPr>
        </p:cxnSp>
      </p:grpSp>
      <p:sp>
        <p:nvSpPr>
          <p:cNvPr id="52" name="Google Shape;52;p7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3.xml" /><Relationship Id="rId3" Type="http://schemas.openxmlformats.org/officeDocument/2006/relationships/image" Target="../media/image24.jpg" /><Relationship Id="rId4" Type="http://schemas.openxmlformats.org/officeDocument/2006/relationships/image" Target="../media/image30.jpg" /><Relationship Id="rId5" Type="http://schemas.openxmlformats.org/officeDocument/2006/relationships/image" Target="../media/image19.png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9.png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4" Type="http://schemas.openxmlformats.org/officeDocument/2006/relationships/image" Target="../media/image14.png" /><Relationship Id="rId5" Type="http://schemas.openxmlformats.org/officeDocument/2006/relationships/image" Target="../media/image16.png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12.png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18.png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20.png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11.png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31.png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21.png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28.png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26.png" /><Relationship Id="rId4" Type="http://schemas.openxmlformats.org/officeDocument/2006/relationships/image" Target="../media/image23.png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22.png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25.png" /><Relationship Id="rId4" Type="http://schemas.openxmlformats.org/officeDocument/2006/relationships/image" Target="../media/image27.png" /><Relationship Id="rId5" Type="http://schemas.openxmlformats.org/officeDocument/2006/relationships/image" Target="../media/image35.png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44.png" /><Relationship Id="rId4" Type="http://schemas.openxmlformats.org/officeDocument/2006/relationships/image" Target="../media/image29.png" /><Relationship Id="rId5" Type="http://schemas.openxmlformats.org/officeDocument/2006/relationships/image" Target="../media/image32.png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34.png" /><Relationship Id="rId4" Type="http://schemas.openxmlformats.org/officeDocument/2006/relationships/image" Target="../media/image38.png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33.png" /><Relationship Id="rId4" Type="http://schemas.openxmlformats.org/officeDocument/2006/relationships/image" Target="../media/image58.jpg" /><Relationship Id="rId5" Type="http://schemas.openxmlformats.org/officeDocument/2006/relationships/image" Target="../media/image46.png" /><Relationship Id="rId6" Type="http://schemas.openxmlformats.org/officeDocument/2006/relationships/image" Target="../media/image40.png" /><Relationship Id="rId7" Type="http://schemas.openxmlformats.org/officeDocument/2006/relationships/image" Target="../media/image41.png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39.png" /><Relationship Id="rId4" Type="http://schemas.openxmlformats.org/officeDocument/2006/relationships/image" Target="../media/image37.png" /><Relationship Id="rId5" Type="http://schemas.openxmlformats.org/officeDocument/2006/relationships/image" Target="../media/image45.png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42.png" /><Relationship Id="rId4" Type="http://schemas.openxmlformats.org/officeDocument/2006/relationships/image" Target="../media/image43.png" /><Relationship Id="rId5" Type="http://schemas.openxmlformats.org/officeDocument/2006/relationships/image" Target="../media/image48.png" /><Relationship Id="rId6" Type="http://schemas.openxmlformats.org/officeDocument/2006/relationships/image" Target="../media/image51.png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47.png" /><Relationship Id="rId4" Type="http://schemas.openxmlformats.org/officeDocument/2006/relationships/image" Target="../media/image56.png" 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54.png" /><Relationship Id="rId4" Type="http://schemas.openxmlformats.org/officeDocument/2006/relationships/image" Target="../media/image52.png" /><Relationship Id="rId5" Type="http://schemas.openxmlformats.org/officeDocument/2006/relationships/image" Target="../media/image53.png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0.xml" /><Relationship Id="rId3" Type="http://schemas.openxmlformats.org/officeDocument/2006/relationships/image" Target="../media/image49.png" />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55.png" 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"/>
          <p:cNvSpPr txBox="1"/>
          <p:nvPr>
            <p:ph type="title"/>
          </p:nvPr>
        </p:nvSpPr>
        <p:spPr>
          <a:xfrm>
            <a:off x="658825" y="3096450"/>
            <a:ext cx="6835800" cy="13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lang="ru-RU" sz="4800"/>
              <a:t>Введение в машинное обучение</a:t>
            </a:r>
            <a:endParaRPr sz="4800"/>
          </a:p>
        </p:txBody>
      </p:sp>
      <p:sp>
        <p:nvSpPr>
          <p:cNvPr id="244" name="Google Shape;244;p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"/>
          <p:cNvSpPr txBox="1"/>
          <p:nvPr>
            <p:ph idx="1" type="body"/>
          </p:nvPr>
        </p:nvSpPr>
        <p:spPr>
          <a:xfrm>
            <a:off x="457425" y="4199625"/>
            <a:ext cx="24588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b="1" lang="ru-RU" sz="1400"/>
              <a:t>Даниил Ситдиков</a:t>
            </a:r>
            <a:br>
              <a:rPr b="1" lang="ru-RU" sz="1400"/>
            </a:br>
            <a:endParaRPr b="1" sz="1400">
              <a:latin typeface="Play"/>
              <a:ea typeface="Play"/>
              <a:cs typeface="Play"/>
              <a:sym typeface="Play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lay"/>
              <a:buChar char="●"/>
            </a:pPr>
            <a:r>
              <a:rPr lang="ru-RU" sz="1400"/>
              <a:t>Программист-</a:t>
            </a:r>
            <a:br>
              <a:rPr lang="ru-RU" sz="1400"/>
            </a:br>
            <a:r>
              <a:rPr lang="ru-RU" sz="1400"/>
              <a:t>исследователь в Evaluation VK Tech</a:t>
            </a:r>
            <a:endParaRPr sz="1400"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lay"/>
              <a:buChar char="●"/>
            </a:pPr>
            <a:r>
              <a:rPr lang="ru-RU" sz="1400"/>
              <a:t>RecSys &amp; MLOps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lay"/>
              <a:buChar char="●"/>
            </a:pPr>
            <a:r>
              <a:rPr lang="ru-RU" sz="1400"/>
              <a:t>Игрок в настольный теннис</a:t>
            </a:r>
            <a:endParaRPr sz="1400"/>
          </a:p>
        </p:txBody>
      </p:sp>
      <p:pic>
        <p:nvPicPr>
          <p:cNvPr id="250" name="Google Shape;250;p2" title="daniil.jpg"/>
          <p:cNvPicPr preferRelativeResize="0"/>
          <p:nvPr/>
        </p:nvPicPr>
        <p:blipFill rotWithShape="1">
          <a:blip r:embed="rId3">
            <a:alphaModFix/>
          </a:blip>
          <a:srcRect b="14086" l="0" r="0" t="14086"/>
          <a:stretch/>
        </p:blipFill>
        <p:spPr>
          <a:xfrm>
            <a:off x="658825" y="1838025"/>
            <a:ext cx="1939311" cy="2215196"/>
          </a:xfrm>
          <a:custGeom>
            <a:rect b="b" l="l" r="r" t="t"/>
            <a:pathLst>
              <a:path extrusionOk="0" h="1622854" w="1622854">
                <a:moveTo>
                  <a:pt x="811427" y="0"/>
                </a:moveTo>
                <a:cubicBezTo>
                  <a:pt x="1259566" y="0"/>
                  <a:pt x="1622854" y="363288"/>
                  <a:pt x="1622854" y="811427"/>
                </a:cubicBezTo>
                <a:cubicBezTo>
                  <a:pt x="1622854" y="1259566"/>
                  <a:pt x="1259566" y="1622854"/>
                  <a:pt x="811427" y="1622854"/>
                </a:cubicBezTo>
                <a:cubicBezTo>
                  <a:pt x="363288" y="1622854"/>
                  <a:pt x="0" y="1259566"/>
                  <a:pt x="0" y="811427"/>
                </a:cubicBezTo>
                <a:cubicBezTo>
                  <a:pt x="0" y="363288"/>
                  <a:pt x="363288" y="0"/>
                  <a:pt x="81142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</p:pic>
      <p:sp>
        <p:nvSpPr>
          <p:cNvPr id="251" name="Google Shape;251;p2"/>
          <p:cNvSpPr txBox="1"/>
          <p:nvPr>
            <p:ph idx="1" type="body"/>
          </p:nvPr>
        </p:nvSpPr>
        <p:spPr>
          <a:xfrm>
            <a:off x="658833" y="1322300"/>
            <a:ext cx="532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b="1" lang="ru-RU" sz="2400"/>
              <a:t>Команда преподавателей</a:t>
            </a:r>
            <a:endParaRPr sz="2200"/>
          </a:p>
        </p:txBody>
      </p:sp>
      <p:pic>
        <p:nvPicPr>
          <p:cNvPr id="252" name="Google Shape;252;p2" title="intranet.jpg"/>
          <p:cNvPicPr preferRelativeResize="0"/>
          <p:nvPr/>
        </p:nvPicPr>
        <p:blipFill rotWithShape="1">
          <a:blip r:embed="rId4">
            <a:alphaModFix/>
          </a:blip>
          <a:srcRect b="16667" l="0" r="0" t="16667"/>
          <a:stretch/>
        </p:blipFill>
        <p:spPr>
          <a:xfrm>
            <a:off x="6107125" y="1823823"/>
            <a:ext cx="1939311" cy="2243596"/>
          </a:xfrm>
          <a:custGeom>
            <a:rect b="b" l="l" r="r" t="t"/>
            <a:pathLst>
              <a:path extrusionOk="0" h="1622854" w="1622854">
                <a:moveTo>
                  <a:pt x="811427" y="0"/>
                </a:moveTo>
                <a:cubicBezTo>
                  <a:pt x="1259566" y="0"/>
                  <a:pt x="1622854" y="363288"/>
                  <a:pt x="1622854" y="811427"/>
                </a:cubicBezTo>
                <a:cubicBezTo>
                  <a:pt x="1622854" y="1259566"/>
                  <a:pt x="1259566" y="1622854"/>
                  <a:pt x="811427" y="1622854"/>
                </a:cubicBezTo>
                <a:cubicBezTo>
                  <a:pt x="363288" y="1622854"/>
                  <a:pt x="0" y="1259566"/>
                  <a:pt x="0" y="811427"/>
                </a:cubicBezTo>
                <a:cubicBezTo>
                  <a:pt x="0" y="363288"/>
                  <a:pt x="363288" y="0"/>
                  <a:pt x="81142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</p:pic>
      <p:sp>
        <p:nvSpPr>
          <p:cNvPr id="253" name="Google Shape;253;p2"/>
          <p:cNvSpPr txBox="1"/>
          <p:nvPr>
            <p:ph idx="1" type="body"/>
          </p:nvPr>
        </p:nvSpPr>
        <p:spPr>
          <a:xfrm>
            <a:off x="3282275" y="4199625"/>
            <a:ext cx="23421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b="1" lang="ru-RU" sz="1400"/>
              <a:t>Максим Грошев</a:t>
            </a:r>
            <a:br>
              <a:rPr b="1" lang="ru-RU" sz="1400"/>
            </a:br>
            <a:endParaRPr b="1" sz="1400">
              <a:latin typeface="Play"/>
              <a:ea typeface="Play"/>
              <a:cs typeface="Play"/>
              <a:sym typeface="Play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lay"/>
              <a:buChar char="●"/>
            </a:pPr>
            <a:r>
              <a:rPr lang="ru-RU" sz="1400"/>
              <a:t>Разработчик в ВК </a:t>
            </a:r>
            <a:r>
              <a:rPr lang="ru-RU" sz="1400"/>
              <a:t>ВИДЕО</a:t>
            </a:r>
            <a:endParaRPr sz="1400"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lay"/>
              <a:buChar char="●"/>
            </a:pPr>
            <a:r>
              <a:rPr lang="ru-RU" sz="1400"/>
              <a:t>Audio &amp;  CV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-RU" sz="1400"/>
              <a:t>Игрок в настольный теннис</a:t>
            </a:r>
            <a:endParaRPr sz="1400"/>
          </a:p>
        </p:txBody>
      </p:sp>
      <p:sp>
        <p:nvSpPr>
          <p:cNvPr id="254" name="Google Shape;254;p2"/>
          <p:cNvSpPr txBox="1"/>
          <p:nvPr>
            <p:ph idx="1" type="body"/>
          </p:nvPr>
        </p:nvSpPr>
        <p:spPr>
          <a:xfrm>
            <a:off x="6107131" y="4199625"/>
            <a:ext cx="23421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b="1" lang="ru-RU" sz="1400"/>
              <a:t>Артем Петров</a:t>
            </a:r>
            <a:br>
              <a:rPr b="1" lang="ru-RU" sz="1400"/>
            </a:br>
            <a:endParaRPr b="1" sz="1400">
              <a:latin typeface="Play"/>
              <a:ea typeface="Play"/>
              <a:cs typeface="Play"/>
              <a:sym typeface="Play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lay"/>
              <a:buChar char="●"/>
            </a:pPr>
            <a:r>
              <a:rPr lang="ru-RU" sz="1400"/>
              <a:t>Разработчик разговорных рекомендаций</a:t>
            </a:r>
            <a:endParaRPr sz="1400"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lay"/>
              <a:buChar char="●"/>
            </a:pPr>
            <a:r>
              <a:rPr lang="ru-RU" sz="1400"/>
              <a:t>RecSys &amp; NLP 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lay"/>
              <a:buChar char="●"/>
            </a:pPr>
            <a:r>
              <a:rPr lang="ru-RU" sz="1400"/>
              <a:t>Игрок в настольный теннис</a:t>
            </a:r>
            <a:endParaRPr sz="1400"/>
          </a:p>
        </p:txBody>
      </p:sp>
      <p:pic>
        <p:nvPicPr>
          <p:cNvPr id="255" name="Google Shape;255;p2"/>
          <p:cNvPicPr preferRelativeResize="0"/>
          <p:nvPr/>
        </p:nvPicPr>
        <p:blipFill rotWithShape="1">
          <a:blip r:embed="rId5">
            <a:alphaModFix/>
          </a:blip>
          <a:srcRect b="33240" l="0" r="16065" t="0"/>
          <a:stretch/>
        </p:blipFill>
        <p:spPr>
          <a:xfrm>
            <a:off x="3456125" y="1824213"/>
            <a:ext cx="1994400" cy="2242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256" name="Google Shape;256;p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560cde4dd_1_45"/>
          <p:cNvSpPr/>
          <p:nvPr/>
        </p:nvSpPr>
        <p:spPr>
          <a:xfrm>
            <a:off x="1402823" y="1449400"/>
            <a:ext cx="7404000" cy="6810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25" lIns="68500" spcFirstLastPara="1" rIns="68500" wrap="square" tIns="34225">
            <a:noAutofit/>
          </a:bodyPr>
          <a:lstStyle/>
          <a:p>
            <a:pPr indent="0" lvl="0" marL="1344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4"/>
              <a:buFont typeface="Arial"/>
              <a:buNone/>
            </a:pPr>
            <a:r>
              <a:rPr lang="ru-RU" sz="1349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Введение в машинное обучение</a:t>
            </a:r>
            <a:endParaRPr b="0" i="0" sz="1349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62" name="Google Shape;262;g3f560cde4dd_1_45"/>
          <p:cNvSpPr txBox="1"/>
          <p:nvPr>
            <p:ph type="title"/>
          </p:nvPr>
        </p:nvSpPr>
        <p:spPr>
          <a:xfrm>
            <a:off x="658825" y="590475"/>
            <a:ext cx="84579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chemeClr val="dk2"/>
                </a:solidFill>
              </a:rPr>
              <a:t>Содержание курса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63" name="Google Shape;263;g3f560cde4dd_1_45"/>
          <p:cNvSpPr/>
          <p:nvPr/>
        </p:nvSpPr>
        <p:spPr>
          <a:xfrm>
            <a:off x="658800" y="1465251"/>
            <a:ext cx="649500" cy="649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25" lIns="68500" spcFirstLastPara="1" rIns="68500" wrap="square" tIns="34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b="0" i="0" lang="ru-RU" sz="2398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 b="0" i="0" sz="104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f560cde4dd_1_45"/>
          <p:cNvSpPr/>
          <p:nvPr/>
        </p:nvSpPr>
        <p:spPr>
          <a:xfrm>
            <a:off x="1402823" y="2202813"/>
            <a:ext cx="7404000" cy="6810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25" lIns="68500" spcFirstLastPara="1" rIns="68500" wrap="square" tIns="34225">
            <a:noAutofit/>
          </a:bodyPr>
          <a:lstStyle/>
          <a:p>
            <a:pPr indent="0" lvl="0" marL="1344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4"/>
              <a:buFont typeface="Arial"/>
              <a:buNone/>
            </a:pPr>
            <a:r>
              <a:rPr lang="ru-RU" sz="1349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Разведочный анализ данных (EDA)</a:t>
            </a:r>
            <a:endParaRPr sz="1349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65" name="Google Shape;265;g3f560cde4dd_1_45"/>
          <p:cNvSpPr/>
          <p:nvPr/>
        </p:nvSpPr>
        <p:spPr>
          <a:xfrm>
            <a:off x="658800" y="2218664"/>
            <a:ext cx="649500" cy="649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25" lIns="68500" spcFirstLastPara="1" rIns="68500" wrap="square" tIns="34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b="0" i="0" lang="ru-RU" sz="2398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rPr>
              <a:t>2</a:t>
            </a:r>
            <a:endParaRPr b="0" i="0" sz="104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f560cde4dd_1_45"/>
          <p:cNvSpPr/>
          <p:nvPr/>
        </p:nvSpPr>
        <p:spPr>
          <a:xfrm>
            <a:off x="1402823" y="2972073"/>
            <a:ext cx="7404000" cy="6810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25" lIns="68500" spcFirstLastPara="1" rIns="68500" wrap="square" tIns="34225">
            <a:noAutofit/>
          </a:bodyPr>
          <a:lstStyle/>
          <a:p>
            <a:pPr indent="0" lvl="0" marL="1344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4"/>
              <a:buFont typeface="Arial"/>
              <a:buNone/>
            </a:pPr>
            <a:r>
              <a:rPr lang="ru-RU" sz="1349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Признаки и предобработка данных.</a:t>
            </a:r>
            <a:endParaRPr sz="1349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67" name="Google Shape;267;g3f560cde4dd_1_45"/>
          <p:cNvSpPr/>
          <p:nvPr/>
        </p:nvSpPr>
        <p:spPr>
          <a:xfrm>
            <a:off x="658800" y="2987924"/>
            <a:ext cx="649500" cy="649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25" lIns="68500" spcFirstLastPara="1" rIns="68500" wrap="square" tIns="34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b="0" i="0" lang="ru-RU" sz="2398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rPr>
              <a:t>3</a:t>
            </a:r>
            <a:endParaRPr b="0" i="0" sz="104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f560cde4dd_1_45"/>
          <p:cNvSpPr/>
          <p:nvPr/>
        </p:nvSpPr>
        <p:spPr>
          <a:xfrm>
            <a:off x="1402823" y="3741334"/>
            <a:ext cx="7404000" cy="6810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25" lIns="68500" spcFirstLastPara="1" rIns="68500" wrap="square" tIns="34225">
            <a:noAutofit/>
          </a:bodyPr>
          <a:lstStyle/>
          <a:p>
            <a:pPr indent="0" lvl="0" marL="1344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4"/>
              <a:buFont typeface="Arial"/>
              <a:buNone/>
            </a:pPr>
            <a:r>
              <a:rPr lang="ru-RU" sz="1349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Контролируемое машинное обучение.</a:t>
            </a:r>
            <a:endParaRPr sz="1349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69" name="Google Shape;269;g3f560cde4dd_1_45"/>
          <p:cNvSpPr/>
          <p:nvPr/>
        </p:nvSpPr>
        <p:spPr>
          <a:xfrm>
            <a:off x="658800" y="3757185"/>
            <a:ext cx="649500" cy="649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25" lIns="68500" spcFirstLastPara="1" rIns="68500" wrap="square" tIns="34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b="0" i="0" lang="ru-RU" sz="2398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rPr>
              <a:t>4</a:t>
            </a:r>
            <a:endParaRPr b="0" i="0" sz="104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f560cde4dd_1_45"/>
          <p:cNvSpPr/>
          <p:nvPr/>
        </p:nvSpPr>
        <p:spPr>
          <a:xfrm>
            <a:off x="1402823" y="4494747"/>
            <a:ext cx="7404000" cy="6810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25" lIns="68500" spcFirstLastPara="1" rIns="68500" wrap="square" tIns="34225">
            <a:noAutofit/>
          </a:bodyPr>
          <a:lstStyle/>
          <a:p>
            <a:pPr indent="0" lvl="0" marL="1344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4"/>
              <a:buFont typeface="Arial"/>
              <a:buNone/>
            </a:pPr>
            <a:r>
              <a:rPr lang="ru-RU" sz="1349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Неконтролируемое машинное обучение. </a:t>
            </a:r>
            <a:endParaRPr sz="1349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71" name="Google Shape;271;g3f560cde4dd_1_45"/>
          <p:cNvSpPr/>
          <p:nvPr/>
        </p:nvSpPr>
        <p:spPr>
          <a:xfrm>
            <a:off x="658800" y="4510598"/>
            <a:ext cx="649500" cy="649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25" lIns="68500" spcFirstLastPara="1" rIns="68500" wrap="square" tIns="34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b="0" i="0" lang="ru-RU" sz="2398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rPr>
              <a:t>5</a:t>
            </a:r>
            <a:endParaRPr b="0" i="0" sz="104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f560cde4dd_1_45"/>
          <p:cNvSpPr/>
          <p:nvPr/>
        </p:nvSpPr>
        <p:spPr>
          <a:xfrm>
            <a:off x="1402823" y="5248184"/>
            <a:ext cx="7404000" cy="6810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25" lIns="68500" spcFirstLastPara="1" rIns="68500" wrap="square" tIns="34225">
            <a:noAutofit/>
          </a:bodyPr>
          <a:lstStyle/>
          <a:p>
            <a:pPr indent="0" lvl="0" marL="1344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4"/>
              <a:buFont typeface="Arial"/>
              <a:buNone/>
            </a:pPr>
            <a:r>
              <a:rPr lang="ru-RU" sz="1349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Временные ряды в ML </a:t>
            </a:r>
            <a:endParaRPr sz="1349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73" name="Google Shape;273;g3f560cde4dd_1_45"/>
          <p:cNvSpPr/>
          <p:nvPr/>
        </p:nvSpPr>
        <p:spPr>
          <a:xfrm>
            <a:off x="658800" y="5264035"/>
            <a:ext cx="649500" cy="649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25" lIns="68500" spcFirstLastPara="1" rIns="68500" wrap="square" tIns="34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lang="ru-RU" sz="2398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endParaRPr b="0" i="0" sz="104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f560cde4dd_1_45"/>
          <p:cNvSpPr/>
          <p:nvPr/>
        </p:nvSpPr>
        <p:spPr>
          <a:xfrm>
            <a:off x="1402823" y="6001597"/>
            <a:ext cx="7404000" cy="6810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25" lIns="68500" spcFirstLastPara="1" rIns="68500" wrap="square" tIns="34225">
            <a:noAutofit/>
          </a:bodyPr>
          <a:lstStyle/>
          <a:p>
            <a:pPr indent="0" lvl="0" marL="1344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4"/>
              <a:buFont typeface="Arial"/>
              <a:buNone/>
            </a:pPr>
            <a:r>
              <a:rPr lang="ru-RU" sz="1349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Нейросети</a:t>
            </a:r>
            <a:endParaRPr sz="1349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75" name="Google Shape;275;g3f560cde4dd_1_45"/>
          <p:cNvSpPr/>
          <p:nvPr/>
        </p:nvSpPr>
        <p:spPr>
          <a:xfrm>
            <a:off x="658800" y="6017448"/>
            <a:ext cx="649500" cy="649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25" lIns="68500" spcFirstLastPara="1" rIns="68500" wrap="square" tIns="34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lang="ru-RU" sz="2398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rPr>
              <a:t>7</a:t>
            </a:r>
            <a:endParaRPr b="0" i="0" sz="104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f560cde4dd_1_4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62e1d3627_0_0"/>
          <p:cNvSpPr txBox="1"/>
          <p:nvPr>
            <p:ph type="title"/>
          </p:nvPr>
        </p:nvSpPr>
        <p:spPr>
          <a:xfrm>
            <a:off x="677334" y="692150"/>
            <a:ext cx="5418600" cy="10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Оценивание</a:t>
            </a:r>
            <a:endParaRPr/>
          </a:p>
        </p:txBody>
      </p:sp>
      <p:sp>
        <p:nvSpPr>
          <p:cNvPr id="283" name="Google Shape;283;g3f62e1d3627_0_0"/>
          <p:cNvSpPr txBox="1"/>
          <p:nvPr/>
        </p:nvSpPr>
        <p:spPr>
          <a:xfrm>
            <a:off x="192000" y="2025075"/>
            <a:ext cx="11808000" cy="41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49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Промежуточная аттестация (2 модуль) рассчитывается по формуле:</a:t>
            </a:r>
            <a:endParaRPr sz="1649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9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49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AVG_Активность × 0,100 + AVG_Домашнее задание × 0,600 + </a:t>
            </a:r>
            <a:r>
              <a:rPr b="1" lang="ru-RU" sz="2049">
                <a:solidFill>
                  <a:schemeClr val="accent2"/>
                </a:solidFill>
                <a:latin typeface="Play"/>
                <a:ea typeface="Play"/>
                <a:cs typeface="Play"/>
                <a:sym typeface="Play"/>
              </a:rPr>
              <a:t>Экзамен × 0,300</a:t>
            </a:r>
            <a:endParaRPr sz="1349">
              <a:solidFill>
                <a:schemeClr val="accent2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9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49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где:</a:t>
            </a:r>
            <a:endParaRPr sz="1349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49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• </a:t>
            </a:r>
            <a:r>
              <a:rPr b="1" lang="ru-RU" sz="1349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AVG_Активность </a:t>
            </a:r>
            <a:r>
              <a:rPr lang="ru-RU" sz="1349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– средний балл за активность на семинарах и квизы (короткие тесты по предыдущим темам, проводятся синхронно);</a:t>
            </a:r>
            <a:endParaRPr sz="1349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49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• </a:t>
            </a:r>
            <a:r>
              <a:rPr b="1" lang="ru-RU" sz="1349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AVG_Домашнее задание</a:t>
            </a:r>
            <a:r>
              <a:rPr lang="ru-RU" sz="1349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– средний балл за выполнение всех домашних работ (с ручной проверкой, тестами или контестами).</a:t>
            </a:r>
            <a:endParaRPr sz="1349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49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• </a:t>
            </a:r>
            <a:r>
              <a:rPr b="1" lang="ru-RU" sz="1349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Экзамен </a:t>
            </a:r>
            <a:r>
              <a:rPr lang="ru-RU" sz="1349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– сумма баллов за экзамен, охватывает все темы 1-2 модулей. Экзамен блокирующий (полное блокирование).</a:t>
            </a:r>
            <a:endParaRPr sz="1349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9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349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Правила округления</a:t>
            </a:r>
            <a:r>
              <a:rPr lang="ru-RU" sz="1349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: промежуточные баллы не округляются, итоговая оценка в ведомость округляется по математическим правилам. </a:t>
            </a:r>
            <a:br>
              <a:rPr lang="ru-RU" sz="1349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lang="ru-RU" sz="1349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Пересдача экзамена возможна по правилам ВШЭ, максимальный балл на пересдаче может быть ограничен до 7. Пересдача активности не предусмотрена.</a:t>
            </a:r>
            <a:endParaRPr sz="1349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9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49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Далее будет продолжение курса в 3-4 модулях (команда преподавателей ВШЭ, не ВК), промежуточная аттестация в 4 модуле.</a:t>
            </a:r>
            <a:endParaRPr sz="1349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9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349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Итоговая оценка:</a:t>
            </a:r>
            <a:endParaRPr b="1" sz="1349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49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Формула оценивания: 2026/2027 учебный год 2 модуль * 0.500 + 2026/2027 учебный год 4 модуль * 0.500</a:t>
            </a:r>
            <a:endParaRPr sz="1349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ru-RU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</p:txBody>
      </p:sp>
      <p:sp>
        <p:nvSpPr>
          <p:cNvPr id="284" name="Google Shape;284;g3f62e1d3627_0_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560cde4dd_1_264"/>
          <p:cNvSpPr txBox="1"/>
          <p:nvPr>
            <p:ph type="title"/>
          </p:nvPr>
        </p:nvSpPr>
        <p:spPr>
          <a:xfrm>
            <a:off x="658825" y="2764050"/>
            <a:ext cx="7139100" cy="1329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lang="ru-RU" sz="4800"/>
              <a:t>Машинное обучение</a:t>
            </a:r>
            <a:endParaRPr sz="4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t/>
            </a:r>
            <a:endParaRPr sz="4800"/>
          </a:p>
        </p:txBody>
      </p:sp>
      <p:sp>
        <p:nvSpPr>
          <p:cNvPr id="290" name="Google Shape;290;g3f560cde4dd_1_264"/>
          <p:cNvSpPr/>
          <p:nvPr/>
        </p:nvSpPr>
        <p:spPr>
          <a:xfrm>
            <a:off x="658825" y="4425325"/>
            <a:ext cx="1494600" cy="461700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91" name="Google Shape;291;g3f560cde4dd_1_264"/>
          <p:cNvSpPr txBox="1"/>
          <p:nvPr/>
        </p:nvSpPr>
        <p:spPr>
          <a:xfrm>
            <a:off x="697317" y="4412137"/>
            <a:ext cx="142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раздел</a:t>
            </a:r>
            <a:endParaRPr b="0" i="0" sz="1800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92" name="Google Shape;292;g3f560cde4dd_1_264"/>
          <p:cNvSpPr/>
          <p:nvPr/>
        </p:nvSpPr>
        <p:spPr>
          <a:xfrm>
            <a:off x="2311600" y="4425325"/>
            <a:ext cx="461700" cy="461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 b="0" i="0" sz="1800" u="none" cap="none" strike="noStrike">
              <a:solidFill>
                <a:schemeClr val="dk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93" name="Google Shape;293;g3f560cde4dd_1_26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f560cde4dd_1_272"/>
          <p:cNvSpPr/>
          <p:nvPr/>
        </p:nvSpPr>
        <p:spPr>
          <a:xfrm>
            <a:off x="693000" y="1773250"/>
            <a:ext cx="10806000" cy="2205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22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Машинное обучение</a:t>
            </a:r>
            <a:r>
              <a:rPr lang="ru-RU" sz="2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- это подраздел искусственного интеллекта, который изучает методы построения алгоритмов, способных автоматически обучаться на данных, находить в них закономерности и принимать решения или делать прогнозы без явного программирования на каждую конкретную задачу..</a:t>
            </a:r>
            <a:endParaRPr b="0" i="0" sz="2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99" name="Google Shape;299;g3f560cde4dd_1_272"/>
          <p:cNvSpPr txBox="1"/>
          <p:nvPr>
            <p:ph type="title"/>
          </p:nvPr>
        </p:nvSpPr>
        <p:spPr>
          <a:xfrm>
            <a:off x="677325" y="692150"/>
            <a:ext cx="84132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lang="ru-RU">
                <a:solidFill>
                  <a:schemeClr val="dk2"/>
                </a:solidFill>
              </a:rPr>
              <a:t>Машинное обучение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300" name="Google Shape;300;g3f560cde4dd_1_2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4618" y="3979150"/>
            <a:ext cx="5923883" cy="28788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g3f560cde4dd_1_27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622808bcf_0_71"/>
          <p:cNvSpPr txBox="1"/>
          <p:nvPr>
            <p:ph type="title"/>
          </p:nvPr>
        </p:nvSpPr>
        <p:spPr>
          <a:xfrm>
            <a:off x="677334" y="692150"/>
            <a:ext cx="5418600" cy="10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lang="ru-RU">
                <a:solidFill>
                  <a:schemeClr val="dk2"/>
                </a:solidFill>
              </a:rPr>
              <a:t>Машинное обучение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8" name="Google Shape;308;g3f622808bcf_0_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7050" y="1497525"/>
            <a:ext cx="5117875" cy="511787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g3f622808bcf_0_7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10" name="Google Shape;310;g3f622808bcf_0_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44775" y="1314875"/>
            <a:ext cx="5522900" cy="548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622808bcf_0_161"/>
          <p:cNvSpPr/>
          <p:nvPr/>
        </p:nvSpPr>
        <p:spPr>
          <a:xfrm>
            <a:off x="658750" y="1850128"/>
            <a:ext cx="5365800" cy="19617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Обучение с учителем</a:t>
            </a:r>
            <a:endParaRPr sz="2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(supervised learning)</a:t>
            </a:r>
            <a:endParaRPr sz="2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16" name="Google Shape;316;g3f622808bcf_0_161"/>
          <p:cNvSpPr/>
          <p:nvPr/>
        </p:nvSpPr>
        <p:spPr>
          <a:xfrm>
            <a:off x="6141974" y="1852443"/>
            <a:ext cx="5391300" cy="19617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Обучение без учителя</a:t>
            </a:r>
            <a:endParaRPr sz="2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(unsupervised learning)</a:t>
            </a:r>
            <a:endParaRPr sz="2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17" name="Google Shape;317;g3f622808bcf_0_161"/>
          <p:cNvSpPr txBox="1"/>
          <p:nvPr>
            <p:ph type="title"/>
          </p:nvPr>
        </p:nvSpPr>
        <p:spPr>
          <a:xfrm>
            <a:off x="677325" y="692150"/>
            <a:ext cx="86241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chemeClr val="dk2"/>
                </a:solidFill>
              </a:rPr>
              <a:t>Основные типы задач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18" name="Google Shape;318;g3f622808bcf_0_161"/>
          <p:cNvSpPr/>
          <p:nvPr/>
        </p:nvSpPr>
        <p:spPr>
          <a:xfrm>
            <a:off x="658750" y="3935654"/>
            <a:ext cx="5365800" cy="19617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Частичное обучение с учителем</a:t>
            </a:r>
            <a:endParaRPr sz="2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(semi-supervised learning)</a:t>
            </a:r>
            <a:endParaRPr sz="2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19" name="Google Shape;319;g3f622808bcf_0_161"/>
          <p:cNvSpPr/>
          <p:nvPr/>
        </p:nvSpPr>
        <p:spPr>
          <a:xfrm>
            <a:off x="6141974" y="3935654"/>
            <a:ext cx="5391300" cy="19617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Обучение с подкреплением</a:t>
            </a:r>
            <a:endParaRPr sz="2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(reinforcement learning)</a:t>
            </a:r>
            <a:endParaRPr sz="2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20" name="Google Shape;320;g3f622808bcf_0_16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f622808bcf_0_28"/>
          <p:cNvSpPr txBox="1"/>
          <p:nvPr>
            <p:ph type="title"/>
          </p:nvPr>
        </p:nvSpPr>
        <p:spPr>
          <a:xfrm>
            <a:off x="677334" y="692150"/>
            <a:ext cx="5418600" cy="10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Обучение с учителем</a:t>
            </a:r>
            <a:endParaRPr/>
          </a:p>
        </p:txBody>
      </p:sp>
      <p:sp>
        <p:nvSpPr>
          <p:cNvPr id="327" name="Google Shape;327;g3f622808bcf_0_28"/>
          <p:cNvSpPr/>
          <p:nvPr/>
        </p:nvSpPr>
        <p:spPr>
          <a:xfrm>
            <a:off x="693000" y="1826250"/>
            <a:ext cx="10806000" cy="2205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22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Обучение с учителем (Supervised Learning)</a:t>
            </a:r>
            <a:r>
              <a:rPr lang="ru-RU" sz="2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- Алгоритм обучается на размеченных данных, где для каждого примера есть правильный ответ.</a:t>
            </a:r>
            <a:endParaRPr b="0" i="0" sz="2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328" name="Google Shape;328;g3f622808bcf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0825" y="4085050"/>
            <a:ext cx="5290349" cy="264517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g3f622808bcf_0_2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622808bcf_0_124"/>
          <p:cNvSpPr txBox="1"/>
          <p:nvPr>
            <p:ph type="title"/>
          </p:nvPr>
        </p:nvSpPr>
        <p:spPr>
          <a:xfrm>
            <a:off x="677334" y="692150"/>
            <a:ext cx="5418600" cy="10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Обучение с учителем: примеры задач</a:t>
            </a:r>
            <a:endParaRPr/>
          </a:p>
        </p:txBody>
      </p:sp>
      <p:sp>
        <p:nvSpPr>
          <p:cNvPr id="336" name="Google Shape;336;g3f622808bcf_0_124"/>
          <p:cNvSpPr txBox="1"/>
          <p:nvPr/>
        </p:nvSpPr>
        <p:spPr>
          <a:xfrm>
            <a:off x="735275" y="19230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37" name="Google Shape;337;g3f622808bcf_0_124"/>
          <p:cNvSpPr txBox="1"/>
          <p:nvPr/>
        </p:nvSpPr>
        <p:spPr>
          <a:xfrm>
            <a:off x="735275" y="2277050"/>
            <a:ext cx="744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Какого пола человек на фото? (Классификация)</a:t>
            </a:r>
            <a:endParaRPr/>
          </a:p>
        </p:txBody>
      </p:sp>
      <p:pic>
        <p:nvPicPr>
          <p:cNvPr id="338" name="Google Shape;338;g3f622808bcf_0_1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7701" y="2956875"/>
            <a:ext cx="7449606" cy="37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g3f622808bcf_0_12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622808bcf_0_330"/>
          <p:cNvSpPr txBox="1"/>
          <p:nvPr>
            <p:ph type="title"/>
          </p:nvPr>
        </p:nvSpPr>
        <p:spPr>
          <a:xfrm>
            <a:off x="677334" y="692150"/>
            <a:ext cx="5418600" cy="10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Обучение с учителем: примеры задач</a:t>
            </a:r>
            <a:endParaRPr/>
          </a:p>
        </p:txBody>
      </p:sp>
      <p:sp>
        <p:nvSpPr>
          <p:cNvPr id="346" name="Google Shape;346;g3f622808bcf_0_330"/>
          <p:cNvSpPr txBox="1"/>
          <p:nvPr/>
        </p:nvSpPr>
        <p:spPr>
          <a:xfrm>
            <a:off x="735275" y="1923050"/>
            <a:ext cx="35634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Предсказание зарплаты по</a:t>
            </a:r>
            <a:r>
              <a:rPr lang="ru-RU"/>
              <a:t> </a:t>
            </a:r>
            <a:r>
              <a:rPr lang="ru-RU" sz="2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резюме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(</a:t>
            </a:r>
            <a:r>
              <a:rPr lang="ru-RU" sz="2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Регрессия)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7" name="Google Shape;347;g3f622808bcf_0_3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6201" y="1491574"/>
            <a:ext cx="5205250" cy="5112924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g3f622808bcf_0_33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f622808bcf_0_33"/>
          <p:cNvSpPr txBox="1"/>
          <p:nvPr>
            <p:ph type="title"/>
          </p:nvPr>
        </p:nvSpPr>
        <p:spPr>
          <a:xfrm>
            <a:off x="677334" y="692150"/>
            <a:ext cx="5418600" cy="10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Обучение без учителя</a:t>
            </a:r>
            <a:endParaRPr/>
          </a:p>
        </p:txBody>
      </p:sp>
      <p:sp>
        <p:nvSpPr>
          <p:cNvPr id="355" name="Google Shape;355;g3f622808bcf_0_33"/>
          <p:cNvSpPr/>
          <p:nvPr/>
        </p:nvSpPr>
        <p:spPr>
          <a:xfrm>
            <a:off x="693000" y="1826250"/>
            <a:ext cx="10806000" cy="2205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22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Обучение без учителя (Unsupervised Learning)</a:t>
            </a:r>
            <a:r>
              <a:rPr lang="ru-RU" sz="2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- </a:t>
            </a:r>
            <a:r>
              <a:rPr lang="ru-RU" sz="2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Алгоритм работает с неразмеченными данными и самостоятельно ищет в них скрытые структуры или закономерности.</a:t>
            </a:r>
            <a:endParaRPr b="0" i="0" sz="2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356" name="Google Shape;356;g3f622808bcf_0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5150" y="4226475"/>
            <a:ext cx="7146401" cy="24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g3f622808bcf_0_3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f622808bcf_0_129"/>
          <p:cNvSpPr txBox="1"/>
          <p:nvPr>
            <p:ph type="title"/>
          </p:nvPr>
        </p:nvSpPr>
        <p:spPr>
          <a:xfrm>
            <a:off x="677334" y="692150"/>
            <a:ext cx="5418600" cy="10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Обучение без учителя: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2"/>
                </a:solidFill>
              </a:rPr>
              <a:t>примеры задач</a:t>
            </a:r>
            <a:endParaRPr/>
          </a:p>
        </p:txBody>
      </p:sp>
      <p:sp>
        <p:nvSpPr>
          <p:cNvPr id="364" name="Google Shape;364;g3f622808bcf_0_129"/>
          <p:cNvSpPr txBox="1"/>
          <p:nvPr/>
        </p:nvSpPr>
        <p:spPr>
          <a:xfrm>
            <a:off x="677325" y="2205875"/>
            <a:ext cx="4653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Кластеризация </a:t>
            </a:r>
            <a:r>
              <a:rPr lang="ru-RU" sz="2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пользователей</a:t>
            </a:r>
            <a:endParaRPr sz="2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365" name="Google Shape;365;g3f622808bcf_0_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6475" y="1702549"/>
            <a:ext cx="4990474" cy="4990474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g3f622808bcf_0_12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f622808bcf_0_43"/>
          <p:cNvSpPr txBox="1"/>
          <p:nvPr>
            <p:ph type="title"/>
          </p:nvPr>
        </p:nvSpPr>
        <p:spPr>
          <a:xfrm>
            <a:off x="677325" y="692150"/>
            <a:ext cx="6951000" cy="10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</a:t>
            </a:r>
            <a:r>
              <a:rPr lang="ru-RU"/>
              <a:t>олуконтролируемое обучение: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2"/>
                </a:solidFill>
              </a:rPr>
              <a:t>примеры задач</a:t>
            </a:r>
            <a:endParaRPr/>
          </a:p>
        </p:txBody>
      </p:sp>
      <p:sp>
        <p:nvSpPr>
          <p:cNvPr id="373" name="Google Shape;373;g3f622808bcf_0_43"/>
          <p:cNvSpPr/>
          <p:nvPr/>
        </p:nvSpPr>
        <p:spPr>
          <a:xfrm>
            <a:off x="693000" y="1826250"/>
            <a:ext cx="10806000" cy="2205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22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Полуконтролируемое обучение (semi-supervised learning) </a:t>
            </a:r>
            <a:r>
              <a:rPr lang="ru-RU" sz="2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 Алгоритм работает с неразмеченными данными и самостоятельно ищет в них скрытые структуры или закономерности.</a:t>
            </a:r>
            <a:endParaRPr b="0" i="0" sz="2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74" name="Google Shape;374;g3f622808bcf_0_4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8b9619bb88_0_628"/>
          <p:cNvSpPr txBox="1"/>
          <p:nvPr>
            <p:ph type="title"/>
          </p:nvPr>
        </p:nvSpPr>
        <p:spPr>
          <a:xfrm>
            <a:off x="677325" y="692150"/>
            <a:ext cx="6951000" cy="10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Полуконтролируемое обучение: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2"/>
                </a:solidFill>
              </a:rPr>
              <a:t>примеры задач</a:t>
            </a:r>
            <a:endParaRPr/>
          </a:p>
        </p:txBody>
      </p:sp>
      <p:pic>
        <p:nvPicPr>
          <p:cNvPr id="381" name="Google Shape;381;g38b9619bb88_0_6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9124" y="1822026"/>
            <a:ext cx="4986174" cy="4655525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g38b9619bb88_0_628"/>
          <p:cNvSpPr txBox="1"/>
          <p:nvPr/>
        </p:nvSpPr>
        <p:spPr>
          <a:xfrm>
            <a:off x="677325" y="2205875"/>
            <a:ext cx="4653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Рекомендации</a:t>
            </a:r>
            <a:endParaRPr sz="2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83" name="Google Shape;383;g38b9619bb88_0_62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f622808bcf_0_38"/>
          <p:cNvSpPr txBox="1"/>
          <p:nvPr>
            <p:ph type="title"/>
          </p:nvPr>
        </p:nvSpPr>
        <p:spPr>
          <a:xfrm>
            <a:off x="677325" y="692150"/>
            <a:ext cx="6217800" cy="10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Обучение с </a:t>
            </a:r>
            <a:r>
              <a:rPr lang="ru-RU"/>
              <a:t>подкреплением</a:t>
            </a:r>
            <a:endParaRPr/>
          </a:p>
        </p:txBody>
      </p:sp>
      <p:sp>
        <p:nvSpPr>
          <p:cNvPr id="390" name="Google Shape;390;g3f622808bcf_0_38"/>
          <p:cNvSpPr/>
          <p:nvPr/>
        </p:nvSpPr>
        <p:spPr>
          <a:xfrm>
            <a:off x="693000" y="1826250"/>
            <a:ext cx="10806000" cy="2205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22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Обучение с подкреплением (Reinforcement Learning)</a:t>
            </a:r>
            <a:r>
              <a:rPr lang="ru-RU" sz="2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- </a:t>
            </a:r>
            <a:r>
              <a:rPr lang="ru-RU" sz="2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Алгоритм (агент) учится, взаимодействуя со средой. Он получает «награду» за правильные действия и «штраф» за ошибки, постепенно вырабатывая оптимальную стратегию.</a:t>
            </a:r>
            <a:endParaRPr b="0" i="0" sz="2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descr="Outsmarting humans: An introduction to reinforcement learning" id="391" name="Google Shape;391;g3f622808bcf_0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1825" y="4150925"/>
            <a:ext cx="5486400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g3f622808bcf_0_38"/>
          <p:cNvSpPr txBox="1"/>
          <p:nvPr/>
        </p:nvSpPr>
        <p:spPr>
          <a:xfrm>
            <a:off x="457200" y="4572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f622808bcf_0_3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f622808bcf_0_141"/>
          <p:cNvSpPr txBox="1"/>
          <p:nvPr>
            <p:ph type="title"/>
          </p:nvPr>
        </p:nvSpPr>
        <p:spPr>
          <a:xfrm>
            <a:off x="677325" y="692150"/>
            <a:ext cx="6217800" cy="10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Обучение с подкреплением: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chemeClr val="dk2"/>
                </a:solidFill>
              </a:rPr>
              <a:t>примеры задач</a:t>
            </a:r>
            <a:endParaRPr/>
          </a:p>
        </p:txBody>
      </p:sp>
      <p:pic>
        <p:nvPicPr>
          <p:cNvPr id="400" name="Google Shape;400;g3f622808bcf_0_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0" y="2257450"/>
            <a:ext cx="5821650" cy="384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g3f622808bcf_0_1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8825" y="2675175"/>
            <a:ext cx="4725950" cy="322343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g3f622808bcf_0_14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f622808bcf_0_314"/>
          <p:cNvSpPr txBox="1"/>
          <p:nvPr>
            <p:ph type="title"/>
          </p:nvPr>
        </p:nvSpPr>
        <p:spPr>
          <a:xfrm>
            <a:off x="677325" y="692150"/>
            <a:ext cx="6217800" cy="10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Обучение с подкреплением: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2"/>
                </a:solidFill>
              </a:rPr>
              <a:t>примеры задач</a:t>
            </a:r>
            <a:endParaRPr/>
          </a:p>
        </p:txBody>
      </p:sp>
      <p:pic>
        <p:nvPicPr>
          <p:cNvPr id="409" name="Google Shape;409;g3f622808bcf_0_3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1375" y="2081300"/>
            <a:ext cx="5638800" cy="438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g3f622808bcf_0_31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f622808bcf_0_191"/>
          <p:cNvSpPr txBox="1"/>
          <p:nvPr>
            <p:ph type="title"/>
          </p:nvPr>
        </p:nvSpPr>
        <p:spPr>
          <a:xfrm>
            <a:off x="677334" y="692150"/>
            <a:ext cx="5418600" cy="10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Типы данных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(по структуре)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g3f622808bcf_0_191"/>
          <p:cNvSpPr/>
          <p:nvPr/>
        </p:nvSpPr>
        <p:spPr>
          <a:xfrm>
            <a:off x="1924126" y="3375199"/>
            <a:ext cx="2442600" cy="855600"/>
          </a:xfrm>
          <a:prstGeom prst="roundRect">
            <a:avLst>
              <a:gd fmla="val 41103" name="adj"/>
            </a:avLst>
          </a:prstGeom>
          <a:solidFill>
            <a:srgbClr val="2272FF"/>
          </a:solidFill>
          <a:ln cap="flat" cmpd="sng" w="15450">
            <a:solidFill>
              <a:srgbClr val="227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8150" lIns="148150" spcFirstLastPara="1" rIns="148150" wrap="square" tIns="148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9"/>
              <a:buFont typeface="Arial"/>
              <a:buNone/>
            </a:pPr>
            <a:r>
              <a:rPr lang="ru-RU" sz="2269"/>
              <a:t>Данные</a:t>
            </a:r>
            <a:endParaRPr b="0" i="0" sz="226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8" name="Google Shape;418;g3f622808bcf_0_191"/>
          <p:cNvCxnSpPr/>
          <p:nvPr/>
        </p:nvCxnSpPr>
        <p:spPr>
          <a:xfrm flipH="1" rot="10800000">
            <a:off x="4366603" y="2554526"/>
            <a:ext cx="2129400" cy="1191900"/>
          </a:xfrm>
          <a:prstGeom prst="bentConnector3">
            <a:avLst>
              <a:gd fmla="val 50000" name="adj1"/>
            </a:avLst>
          </a:prstGeom>
          <a:noFill/>
          <a:ln cap="flat" cmpd="sng" w="32025">
            <a:solidFill>
              <a:srgbClr val="2272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9" name="Google Shape;419;g3f622808bcf_0_191"/>
          <p:cNvSpPr/>
          <p:nvPr/>
        </p:nvSpPr>
        <p:spPr>
          <a:xfrm>
            <a:off x="6496000" y="2078600"/>
            <a:ext cx="3843600" cy="855600"/>
          </a:xfrm>
          <a:prstGeom prst="roundRect">
            <a:avLst>
              <a:gd fmla="val 41103" name="adj"/>
            </a:avLst>
          </a:prstGeom>
          <a:solidFill>
            <a:srgbClr val="FFFFFF"/>
          </a:solidFill>
          <a:ln cap="flat" cmpd="sng" w="32025">
            <a:solidFill>
              <a:srgbClr val="227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8150" lIns="148150" spcFirstLastPara="1" rIns="148150" wrap="square" tIns="148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9"/>
              <a:buFont typeface="Arial"/>
              <a:buNone/>
            </a:pPr>
            <a:r>
              <a:rPr lang="ru-RU" sz="2269"/>
              <a:t>Структурированные данные</a:t>
            </a:r>
            <a:endParaRPr b="0" i="0" sz="226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0" name="Google Shape;420;g3f622808bcf_0_191"/>
          <p:cNvCxnSpPr/>
          <p:nvPr/>
        </p:nvCxnSpPr>
        <p:spPr>
          <a:xfrm>
            <a:off x="5421534" y="3746426"/>
            <a:ext cx="1113600" cy="0"/>
          </a:xfrm>
          <a:prstGeom prst="straightConnector1">
            <a:avLst/>
          </a:prstGeom>
          <a:noFill/>
          <a:ln cap="flat" cmpd="sng" w="32025">
            <a:solidFill>
              <a:srgbClr val="2272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1" name="Google Shape;421;g3f622808bcf_0_191"/>
          <p:cNvSpPr/>
          <p:nvPr/>
        </p:nvSpPr>
        <p:spPr>
          <a:xfrm>
            <a:off x="6535325" y="3224375"/>
            <a:ext cx="3843600" cy="855600"/>
          </a:xfrm>
          <a:prstGeom prst="roundRect">
            <a:avLst>
              <a:gd fmla="val 41103" name="adj"/>
            </a:avLst>
          </a:prstGeom>
          <a:solidFill>
            <a:srgbClr val="FFFFFF"/>
          </a:solidFill>
          <a:ln cap="flat" cmpd="sng" w="32025">
            <a:solidFill>
              <a:srgbClr val="227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8150" lIns="148150" spcFirstLastPara="1" rIns="148150" wrap="square" tIns="148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9"/>
              <a:buFont typeface="Arial"/>
              <a:buNone/>
            </a:pPr>
            <a:r>
              <a:rPr lang="ru-RU" sz="2269"/>
              <a:t>Неструктурированные данные</a:t>
            </a:r>
            <a:endParaRPr sz="2269"/>
          </a:p>
        </p:txBody>
      </p:sp>
      <p:cxnSp>
        <p:nvCxnSpPr>
          <p:cNvPr id="422" name="Google Shape;422;g3f622808bcf_0_191"/>
          <p:cNvCxnSpPr/>
          <p:nvPr/>
        </p:nvCxnSpPr>
        <p:spPr>
          <a:xfrm>
            <a:off x="4337191" y="3746426"/>
            <a:ext cx="2188200" cy="1211100"/>
          </a:xfrm>
          <a:prstGeom prst="bentConnector3">
            <a:avLst>
              <a:gd fmla="val 50000" name="adj1"/>
            </a:avLst>
          </a:prstGeom>
          <a:noFill/>
          <a:ln cap="flat" cmpd="sng" w="32025">
            <a:solidFill>
              <a:srgbClr val="2272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3" name="Google Shape;423;g3f622808bcf_0_191"/>
          <p:cNvSpPr/>
          <p:nvPr/>
        </p:nvSpPr>
        <p:spPr>
          <a:xfrm>
            <a:off x="6535325" y="4370125"/>
            <a:ext cx="3843600" cy="855600"/>
          </a:xfrm>
          <a:prstGeom prst="roundRect">
            <a:avLst>
              <a:gd fmla="val 41103" name="adj"/>
            </a:avLst>
          </a:prstGeom>
          <a:solidFill>
            <a:srgbClr val="FFFFFF"/>
          </a:solidFill>
          <a:ln cap="flat" cmpd="sng" w="32025">
            <a:solidFill>
              <a:srgbClr val="227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8150" lIns="148150" spcFirstLastPara="1" rIns="148150" wrap="square" tIns="148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9"/>
              <a:buFont typeface="Arial"/>
              <a:buNone/>
            </a:pPr>
            <a:r>
              <a:rPr lang="ru-RU" sz="2269"/>
              <a:t>Полуструктурированные данные</a:t>
            </a:r>
            <a:endParaRPr b="0" i="0" sz="226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g3f622808bcf_0_191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8b9619bb88_0_0"/>
          <p:cNvSpPr txBox="1"/>
          <p:nvPr>
            <p:ph type="title"/>
          </p:nvPr>
        </p:nvSpPr>
        <p:spPr>
          <a:xfrm>
            <a:off x="677325" y="692150"/>
            <a:ext cx="5586900" cy="10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/>
              <a:t>Структурированные</a:t>
            </a:r>
            <a:r>
              <a:rPr lang="ru-RU" sz="226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/>
              <a:t>данные</a:t>
            </a:r>
            <a:endParaRPr/>
          </a:p>
        </p:txBody>
      </p:sp>
      <p:sp>
        <p:nvSpPr>
          <p:cNvPr id="431" name="Google Shape;431;g38b9619bb88_0_0"/>
          <p:cNvSpPr txBox="1"/>
          <p:nvPr/>
        </p:nvSpPr>
        <p:spPr>
          <a:xfrm>
            <a:off x="482550" y="18745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2" name="Google Shape;432;g38b9619bb88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5825" y="4222375"/>
            <a:ext cx="5478100" cy="252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g38b9619bb88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71175" y="2209500"/>
            <a:ext cx="1559924" cy="1559924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g38b9619bb88_0_0"/>
          <p:cNvSpPr/>
          <p:nvPr/>
        </p:nvSpPr>
        <p:spPr>
          <a:xfrm>
            <a:off x="482550" y="2274775"/>
            <a:ext cx="5039100" cy="19476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Структурированные данные:</a:t>
            </a: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Имеют строго определенный формат, обычно представлены в виде таблиц (строки и столбцы).</a:t>
            </a:r>
            <a:endParaRPr sz="1600"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435" name="Google Shape;435;g38b9619bb88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88825" y="2209500"/>
            <a:ext cx="1615174" cy="1615174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g38b9619bb88_0_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8b9619bb88_0_209"/>
          <p:cNvSpPr txBox="1"/>
          <p:nvPr>
            <p:ph type="title"/>
          </p:nvPr>
        </p:nvSpPr>
        <p:spPr>
          <a:xfrm>
            <a:off x="677325" y="692150"/>
            <a:ext cx="5586900" cy="10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Неструктурированные данные</a:t>
            </a:r>
            <a:endParaRPr sz="226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8b9619bb88_0_209"/>
          <p:cNvSpPr txBox="1"/>
          <p:nvPr/>
        </p:nvSpPr>
        <p:spPr>
          <a:xfrm>
            <a:off x="658825" y="21715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4" name="Google Shape;444;g38b9619bb88_0_2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1124" y="1773250"/>
            <a:ext cx="4722075" cy="385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g38b9619bb88_0_20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7325" y="4543787"/>
            <a:ext cx="2078875" cy="207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g38b9619bb88_0_2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69800" y="4470112"/>
            <a:ext cx="2226200" cy="2226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g38b9619bb88_0_209"/>
          <p:cNvSpPr/>
          <p:nvPr/>
        </p:nvSpPr>
        <p:spPr>
          <a:xfrm>
            <a:off x="677325" y="2177716"/>
            <a:ext cx="5365800" cy="19617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Неструктурированные данные</a:t>
            </a: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: Не имеют предопределенной модели или организации.</a:t>
            </a:r>
            <a:endParaRPr sz="1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48" name="Google Shape;448;g38b9619bb88_0_209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8b9619bb88_0_418"/>
          <p:cNvSpPr txBox="1"/>
          <p:nvPr>
            <p:ph type="title"/>
          </p:nvPr>
        </p:nvSpPr>
        <p:spPr>
          <a:xfrm>
            <a:off x="677325" y="692150"/>
            <a:ext cx="5586900" cy="10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2"/>
                </a:solidFill>
              </a:rPr>
              <a:t>Полуструктурированные данные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5" name="Google Shape;455;g38b9619bb88_0_4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6950" y="1773350"/>
            <a:ext cx="3586250" cy="143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g38b9619bb88_0_4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87188" y="3695000"/>
            <a:ext cx="2505775" cy="2505775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g38b9619bb88_0_418"/>
          <p:cNvSpPr/>
          <p:nvPr/>
        </p:nvSpPr>
        <p:spPr>
          <a:xfrm>
            <a:off x="658825" y="2141775"/>
            <a:ext cx="5605500" cy="19617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Полуструктурированные данные:</a:t>
            </a: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Занимают промежуточное положение. Данные не организованы в строгие таблицы, но имеют определенную структуру или метки для разделения элементов.</a:t>
            </a:r>
            <a:endParaRPr sz="2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58" name="Google Shape;458;g38b9619bb88_0_41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f622808bcf_0_14"/>
          <p:cNvSpPr txBox="1"/>
          <p:nvPr>
            <p:ph type="title"/>
          </p:nvPr>
        </p:nvSpPr>
        <p:spPr>
          <a:xfrm>
            <a:off x="658825" y="2597850"/>
            <a:ext cx="72315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lang="ru-RU" sz="4800"/>
              <a:t>Инструменты</a:t>
            </a:r>
            <a:endParaRPr sz="4800"/>
          </a:p>
        </p:txBody>
      </p:sp>
      <p:sp>
        <p:nvSpPr>
          <p:cNvPr id="464" name="Google Shape;464;g3f622808bcf_0_14"/>
          <p:cNvSpPr/>
          <p:nvPr/>
        </p:nvSpPr>
        <p:spPr>
          <a:xfrm>
            <a:off x="658825" y="4253883"/>
            <a:ext cx="1494600" cy="461700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65" name="Google Shape;465;g3f622808bcf_0_14"/>
          <p:cNvSpPr txBox="1"/>
          <p:nvPr/>
        </p:nvSpPr>
        <p:spPr>
          <a:xfrm>
            <a:off x="697317" y="4240694"/>
            <a:ext cx="142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раздел</a:t>
            </a:r>
            <a:endParaRPr b="0" i="0" sz="1800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66" name="Google Shape;466;g3f622808bcf_0_14"/>
          <p:cNvSpPr/>
          <p:nvPr/>
        </p:nvSpPr>
        <p:spPr>
          <a:xfrm>
            <a:off x="2311600" y="4253883"/>
            <a:ext cx="461700" cy="461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2</a:t>
            </a:r>
            <a:endParaRPr b="0" i="0" sz="1800" u="none" cap="none" strike="noStrike">
              <a:solidFill>
                <a:schemeClr val="dk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67" name="Google Shape;467;g3f622808bcf_0_14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f622808bcf_0_55"/>
          <p:cNvSpPr txBox="1"/>
          <p:nvPr>
            <p:ph type="title"/>
          </p:nvPr>
        </p:nvSpPr>
        <p:spPr>
          <a:xfrm>
            <a:off x="677325" y="692150"/>
            <a:ext cx="5418600" cy="77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Python – где работать?</a:t>
            </a:r>
            <a:endParaRPr sz="1800">
              <a:solidFill>
                <a:srgbClr val="0F2C6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4" name="Google Shape;474;g3f622808bcf_0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87405" y="1773250"/>
            <a:ext cx="1847764" cy="184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g3f622808bcf_0_55" title="02-02-VITYAZ-NA-RASPUT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75" y="1968651"/>
            <a:ext cx="6509583" cy="4068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g3f622808bcf_0_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93027" y="1968664"/>
            <a:ext cx="1340997" cy="1577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g3f622808bcf_0_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91136" y="4218120"/>
            <a:ext cx="1744783" cy="1753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g3f622808bcf_0_5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968726" y="3818703"/>
            <a:ext cx="2100301" cy="2100301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g3f622808bcf_0_5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f622808bcf_0_60"/>
          <p:cNvSpPr txBox="1"/>
          <p:nvPr>
            <p:ph type="title"/>
          </p:nvPr>
        </p:nvSpPr>
        <p:spPr>
          <a:xfrm>
            <a:off x="677334" y="692150"/>
            <a:ext cx="5418600" cy="10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Numpy</a:t>
            </a:r>
            <a:endParaRPr/>
          </a:p>
        </p:txBody>
      </p:sp>
      <p:pic>
        <p:nvPicPr>
          <p:cNvPr id="486" name="Google Shape;486;g3f622808bcf_0_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2625" y="193650"/>
            <a:ext cx="3140825" cy="1413375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g3f622808bcf_0_60"/>
          <p:cNvSpPr/>
          <p:nvPr/>
        </p:nvSpPr>
        <p:spPr>
          <a:xfrm>
            <a:off x="693000" y="1669875"/>
            <a:ext cx="10806000" cy="2205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2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библиотека для работы с многомерными массивами и выполнения сложных математических вычислений</a:t>
            </a:r>
            <a:endParaRPr b="0" i="0" sz="2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488" name="Google Shape;488;g3f622808bcf_0_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3003" y="4878400"/>
            <a:ext cx="3716750" cy="88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g3f622808bcf_0_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12628" y="4878400"/>
            <a:ext cx="4463398" cy="885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g3f622808bcf_0_6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f622808bcf_0_78"/>
          <p:cNvSpPr txBox="1"/>
          <p:nvPr>
            <p:ph type="title"/>
          </p:nvPr>
        </p:nvSpPr>
        <p:spPr>
          <a:xfrm>
            <a:off x="677334" y="692150"/>
            <a:ext cx="5418600" cy="10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Matplotlib</a:t>
            </a:r>
            <a:endParaRPr/>
          </a:p>
        </p:txBody>
      </p:sp>
      <p:pic>
        <p:nvPicPr>
          <p:cNvPr id="497" name="Google Shape;497;g3f622808bcf_0_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7650" y="359075"/>
            <a:ext cx="3243621" cy="10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g3f622808bcf_0_78"/>
          <p:cNvSpPr/>
          <p:nvPr/>
        </p:nvSpPr>
        <p:spPr>
          <a:xfrm>
            <a:off x="693000" y="1854050"/>
            <a:ext cx="10806000" cy="2205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2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библиотека для визуализации данных и построения различных графиков, диаграмм и гистограмм.</a:t>
            </a:r>
            <a:endParaRPr b="0" i="0" sz="2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499" name="Google Shape;499;g3f622808bcf_0_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3000" y="4140650"/>
            <a:ext cx="3396525" cy="254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g3f622808bcf_0_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79050" y="4194800"/>
            <a:ext cx="3324333" cy="24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g3f622808bcf_0_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34183" y="4194800"/>
            <a:ext cx="3281603" cy="2493249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g3f622808bcf_0_7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f622808bcf_0_83"/>
          <p:cNvSpPr txBox="1"/>
          <p:nvPr>
            <p:ph type="title"/>
          </p:nvPr>
        </p:nvSpPr>
        <p:spPr>
          <a:xfrm>
            <a:off x="677334" y="692150"/>
            <a:ext cx="5418600" cy="10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Pandas</a:t>
            </a:r>
            <a:endParaRPr/>
          </a:p>
        </p:txBody>
      </p:sp>
      <p:pic>
        <p:nvPicPr>
          <p:cNvPr id="509" name="Google Shape;509;g3f622808bcf_0_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2900" y="304225"/>
            <a:ext cx="2895425" cy="1173275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g3f622808bcf_0_83"/>
          <p:cNvSpPr/>
          <p:nvPr/>
        </p:nvSpPr>
        <p:spPr>
          <a:xfrm>
            <a:off x="702263" y="1773350"/>
            <a:ext cx="10806000" cy="2205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2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библиотека для анализа, обработки и манипуляции табличными данными (удобная работа с таблицами, CSV, Excel).</a:t>
            </a:r>
            <a:endParaRPr b="0" i="0" sz="2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511" name="Google Shape;511;g3f622808bcf_0_83" title="Снимок экрана — 2026-08-01 в 21.15.0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7325" y="4455525"/>
            <a:ext cx="10855874" cy="1793219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g3f622808bcf_0_8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f622808bcf_0_88"/>
          <p:cNvSpPr txBox="1"/>
          <p:nvPr>
            <p:ph type="title"/>
          </p:nvPr>
        </p:nvSpPr>
        <p:spPr>
          <a:xfrm>
            <a:off x="677324" y="692150"/>
            <a:ext cx="5869500" cy="10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Рекомендуемая литература</a:t>
            </a:r>
            <a:r>
              <a:rPr lang="ru-RU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519" name="Google Shape;519;g3f622808bcf_0_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4225" y="1611325"/>
            <a:ext cx="4928750" cy="49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g3f622808bcf_0_8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521" name="Google Shape;521;g3f622808bcf_0_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7324" y="2051275"/>
            <a:ext cx="1929450" cy="197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g3f622808bcf_0_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250" y="4585809"/>
            <a:ext cx="1929450" cy="1954267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g3f622808bcf_0_88"/>
          <p:cNvSpPr txBox="1"/>
          <p:nvPr/>
        </p:nvSpPr>
        <p:spPr>
          <a:xfrm>
            <a:off x="3001500" y="2649400"/>
            <a:ext cx="2691000" cy="7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Основы Python</a:t>
            </a:r>
            <a:endParaRPr sz="2200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24" name="Google Shape;524;g3f622808bcf_0_88"/>
          <p:cNvSpPr txBox="1"/>
          <p:nvPr/>
        </p:nvSpPr>
        <p:spPr>
          <a:xfrm>
            <a:off x="3001500" y="5077550"/>
            <a:ext cx="3505500" cy="7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Учебник по машинному обучению</a:t>
            </a:r>
            <a:endParaRPr sz="2200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f622808bcf_0_230"/>
          <p:cNvSpPr txBox="1"/>
          <p:nvPr>
            <p:ph type="title"/>
          </p:nvPr>
        </p:nvSpPr>
        <p:spPr>
          <a:xfrm>
            <a:off x="658825" y="2597850"/>
            <a:ext cx="72315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lang="ru-RU" sz="4800"/>
              <a:t>Практика</a:t>
            </a:r>
            <a:endParaRPr sz="4800"/>
          </a:p>
        </p:txBody>
      </p:sp>
      <p:sp>
        <p:nvSpPr>
          <p:cNvPr id="530" name="Google Shape;530;g3f622808bcf_0_230"/>
          <p:cNvSpPr/>
          <p:nvPr/>
        </p:nvSpPr>
        <p:spPr>
          <a:xfrm>
            <a:off x="658825" y="4253883"/>
            <a:ext cx="1494600" cy="461700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31" name="Google Shape;531;g3f622808bcf_0_230"/>
          <p:cNvSpPr txBox="1"/>
          <p:nvPr/>
        </p:nvSpPr>
        <p:spPr>
          <a:xfrm>
            <a:off x="697317" y="4240694"/>
            <a:ext cx="142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раздел</a:t>
            </a:r>
            <a:endParaRPr b="0" i="0" sz="1800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32" name="Google Shape;532;g3f622808bcf_0_230"/>
          <p:cNvSpPr/>
          <p:nvPr/>
        </p:nvSpPr>
        <p:spPr>
          <a:xfrm>
            <a:off x="2311600" y="4253883"/>
            <a:ext cx="461700" cy="461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3</a:t>
            </a:r>
            <a:endParaRPr b="0" i="0" sz="1800" u="none" cap="none" strike="noStrike">
              <a:solidFill>
                <a:schemeClr val="dk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33" name="Google Shape;533;g3f622808bcf_0_23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f622808bcf_0_120"/>
          <p:cNvSpPr txBox="1"/>
          <p:nvPr>
            <p:ph type="title"/>
          </p:nvPr>
        </p:nvSpPr>
        <p:spPr>
          <a:xfrm>
            <a:off x="658825" y="2837990"/>
            <a:ext cx="54753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ru-RU" sz="4800">
                <a:solidFill>
                  <a:schemeClr val="dk2"/>
                </a:solidFill>
              </a:rPr>
              <a:t>Домашнее задание</a:t>
            </a:r>
            <a:endParaRPr sz="4800">
              <a:solidFill>
                <a:schemeClr val="dk2"/>
              </a:solidFill>
            </a:endParaRPr>
          </a:p>
        </p:txBody>
      </p:sp>
      <p:sp>
        <p:nvSpPr>
          <p:cNvPr id="539" name="Google Shape;539;g3f622808bcf_0_120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f560cde4dd_1_607"/>
          <p:cNvSpPr txBox="1"/>
          <p:nvPr>
            <p:ph type="title"/>
          </p:nvPr>
        </p:nvSpPr>
        <p:spPr>
          <a:xfrm>
            <a:off x="603172" y="692150"/>
            <a:ext cx="46215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</a:pPr>
            <a:r>
              <a:rPr lang="ru-RU" sz="3600"/>
              <a:t>Рефлексия</a:t>
            </a:r>
            <a:endParaRPr sz="3600"/>
          </a:p>
        </p:txBody>
      </p:sp>
      <p:pic>
        <p:nvPicPr>
          <p:cNvPr id="545" name="Google Shape;545;g3f560cde4dd_1_6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29997" y="1712865"/>
            <a:ext cx="5147672" cy="4653837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g3f560cde4dd_1_607"/>
          <p:cNvSpPr txBox="1"/>
          <p:nvPr/>
        </p:nvSpPr>
        <p:spPr>
          <a:xfrm>
            <a:off x="658825" y="1746873"/>
            <a:ext cx="6150000" cy="16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lay"/>
              <a:buChar char="●"/>
            </a:pPr>
            <a:r>
              <a:rPr b="0" i="0" lang="ru-RU" sz="22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Что теперь смогу использовать в работе?</a:t>
            </a:r>
            <a:endParaRPr b="0" i="0" sz="22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lay"/>
              <a:buChar char="●"/>
            </a:pPr>
            <a:r>
              <a:rPr b="0" i="0" lang="ru-RU" sz="22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Что изменилось? Раньше я думал(а), что…, а теперь…</a:t>
            </a:r>
            <a:endParaRPr b="0" i="0" sz="22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lay"/>
              <a:buChar char="●"/>
            </a:pPr>
            <a:r>
              <a:rPr b="0" i="0" lang="ru-RU" sz="22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Какие вопросы у меня остались?</a:t>
            </a:r>
            <a:endParaRPr b="0" i="0" sz="22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47" name="Google Shape;547;g3f560cde4dd_1_607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f622808bcf_0_258"/>
          <p:cNvSpPr txBox="1"/>
          <p:nvPr>
            <p:ph type="title"/>
          </p:nvPr>
        </p:nvSpPr>
        <p:spPr>
          <a:xfrm>
            <a:off x="639763" y="493862"/>
            <a:ext cx="5475300" cy="14778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Спасибо за внимание</a:t>
            </a:r>
            <a:endParaRPr/>
          </a:p>
        </p:txBody>
      </p:sp>
      <p:sp>
        <p:nvSpPr>
          <p:cNvPr id="554" name="Google Shape;554;g3f622808bcf_0_25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555" name="Google Shape;555;g3f622808bcf_0_2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3750" y="692150"/>
            <a:ext cx="6258251" cy="616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2020-08-24T10:59:58Z</dcterms:created>
  <dc:creator>MIEM HSE course</dc:creator>
</cp:coreProperties>
</file>