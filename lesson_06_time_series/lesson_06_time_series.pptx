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Play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jq4DaGKXTVJOUc+pGzhRxHYrY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F66905-3555-4E15-A929-F23938F1509A}">
  <a:tblStyle styleId="{38F66905-3555-4E15-A929-F23938F150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Play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Play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8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8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">
  <p:cSld name="1_Заголовок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2580" y="692150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9" name="Google Shape;6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8" name="Google Shape;7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3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4" name="Google Shape;8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5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9" name="Google Shape;8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6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46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6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8" name="Google Shape;9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7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8"/>
          <p:cNvSpPr txBox="1"/>
          <p:nvPr>
            <p:ph idx="1" type="body"/>
          </p:nvPr>
        </p:nvSpPr>
        <p:spPr>
          <a:xfrm>
            <a:off x="658813" y="4728128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type="title"/>
          </p:nvPr>
        </p:nvSpPr>
        <p:spPr>
          <a:xfrm>
            <a:off x="622261" y="2783175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9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2"/>
          <p:cNvSpPr txBox="1"/>
          <p:nvPr>
            <p:ph idx="2" type="body"/>
          </p:nvPr>
        </p:nvSpPr>
        <p:spPr>
          <a:xfrm>
            <a:off x="3359150" y="4646741"/>
            <a:ext cx="8200516" cy="31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5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52"/>
          <p:cNvSpPr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b="1" i="0" lang="en-US" sz="28800" u="non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9" name="Google Shape;12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5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4" name="Google Shape;134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5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9" name="Google Shape;13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41" name="Google Shape;14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6" name="Google Shape;14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6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56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5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4" name="Google Shape;15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8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8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58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0" name="Google Shape;16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5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5" name="Google Shape;16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0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0" name="Google Shape;17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3" name="Google Shape;17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3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6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2" name="Google Shape;18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4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64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64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7" name="Google Shape;18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5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0" name="Google Shape;190;p6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5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2" name="Google Shape;19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6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5" name="Google Shape;195;p66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66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7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9" name="Google Shape;199;p67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67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6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7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3" name="Google Shape;20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658813" y="1773238"/>
            <a:ext cx="10855852" cy="367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37"/>
          <p:cNvCxnSpPr/>
          <p:nvPr/>
        </p:nvCxnSpPr>
        <p:spPr>
          <a:xfrm>
            <a:off x="0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" name="Google Shape;13;p37"/>
          <p:cNvCxnSpPr/>
          <p:nvPr/>
        </p:nvCxnSpPr>
        <p:spPr>
          <a:xfrm>
            <a:off x="677119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" name="Google Shape;14;p37"/>
          <p:cNvCxnSpPr/>
          <p:nvPr/>
        </p:nvCxnSpPr>
        <p:spPr>
          <a:xfrm>
            <a:off x="135423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" name="Google Shape;15;p37"/>
          <p:cNvCxnSpPr/>
          <p:nvPr/>
        </p:nvCxnSpPr>
        <p:spPr>
          <a:xfrm>
            <a:off x="2031357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" name="Google Shape;16;p37"/>
          <p:cNvCxnSpPr/>
          <p:nvPr/>
        </p:nvCxnSpPr>
        <p:spPr>
          <a:xfrm>
            <a:off x="2708476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" name="Google Shape;17;p37"/>
          <p:cNvCxnSpPr/>
          <p:nvPr/>
        </p:nvCxnSpPr>
        <p:spPr>
          <a:xfrm>
            <a:off x="3385595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" name="Google Shape;18;p37"/>
          <p:cNvCxnSpPr/>
          <p:nvPr/>
        </p:nvCxnSpPr>
        <p:spPr>
          <a:xfrm>
            <a:off x="4062714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" name="Google Shape;19;p37"/>
          <p:cNvCxnSpPr/>
          <p:nvPr/>
        </p:nvCxnSpPr>
        <p:spPr>
          <a:xfrm>
            <a:off x="4739833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" name="Google Shape;20;p37"/>
          <p:cNvCxnSpPr/>
          <p:nvPr/>
        </p:nvCxnSpPr>
        <p:spPr>
          <a:xfrm>
            <a:off x="5416952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" name="Google Shape;21;p37"/>
          <p:cNvCxnSpPr/>
          <p:nvPr/>
        </p:nvCxnSpPr>
        <p:spPr>
          <a:xfrm>
            <a:off x="6094071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" name="Google Shape;22;p37"/>
          <p:cNvCxnSpPr/>
          <p:nvPr/>
        </p:nvCxnSpPr>
        <p:spPr>
          <a:xfrm>
            <a:off x="6771190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" name="Google Shape;23;p37"/>
          <p:cNvCxnSpPr/>
          <p:nvPr/>
        </p:nvCxnSpPr>
        <p:spPr>
          <a:xfrm>
            <a:off x="7448309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" name="Google Shape;24;p37"/>
          <p:cNvCxnSpPr/>
          <p:nvPr/>
        </p:nvCxnSpPr>
        <p:spPr>
          <a:xfrm>
            <a:off x="812542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" name="Google Shape;25;p37"/>
          <p:cNvCxnSpPr/>
          <p:nvPr/>
        </p:nvCxnSpPr>
        <p:spPr>
          <a:xfrm>
            <a:off x="8802547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" name="Google Shape;26;p37"/>
          <p:cNvCxnSpPr/>
          <p:nvPr/>
        </p:nvCxnSpPr>
        <p:spPr>
          <a:xfrm>
            <a:off x="9479666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" name="Google Shape;27;p37"/>
          <p:cNvCxnSpPr/>
          <p:nvPr/>
        </p:nvCxnSpPr>
        <p:spPr>
          <a:xfrm>
            <a:off x="10156785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" name="Google Shape;28;p37"/>
          <p:cNvCxnSpPr/>
          <p:nvPr/>
        </p:nvCxnSpPr>
        <p:spPr>
          <a:xfrm>
            <a:off x="10833904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" name="Google Shape;29;p37"/>
          <p:cNvCxnSpPr/>
          <p:nvPr/>
        </p:nvCxnSpPr>
        <p:spPr>
          <a:xfrm>
            <a:off x="11511023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" name="Google Shape;30;p37"/>
          <p:cNvCxnSpPr/>
          <p:nvPr/>
        </p:nvCxnSpPr>
        <p:spPr>
          <a:xfrm>
            <a:off x="1218814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" name="Google Shape;31;p37"/>
          <p:cNvCxnSpPr/>
          <p:nvPr/>
        </p:nvCxnSpPr>
        <p:spPr>
          <a:xfrm>
            <a:off x="-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" name="Google Shape;32;p37"/>
          <p:cNvCxnSpPr/>
          <p:nvPr/>
        </p:nvCxnSpPr>
        <p:spPr>
          <a:xfrm>
            <a:off x="677116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" name="Google Shape;33;p37"/>
          <p:cNvCxnSpPr/>
          <p:nvPr/>
        </p:nvCxnSpPr>
        <p:spPr>
          <a:xfrm>
            <a:off x="135423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" name="Google Shape;34;p37"/>
          <p:cNvCxnSpPr/>
          <p:nvPr/>
        </p:nvCxnSpPr>
        <p:spPr>
          <a:xfrm>
            <a:off x="2031354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" name="Google Shape;35;p37"/>
          <p:cNvCxnSpPr/>
          <p:nvPr/>
        </p:nvCxnSpPr>
        <p:spPr>
          <a:xfrm>
            <a:off x="270847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" name="Google Shape;36;p37"/>
          <p:cNvCxnSpPr/>
          <p:nvPr/>
        </p:nvCxnSpPr>
        <p:spPr>
          <a:xfrm>
            <a:off x="3385592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" name="Google Shape;37;p37"/>
          <p:cNvCxnSpPr/>
          <p:nvPr/>
        </p:nvCxnSpPr>
        <p:spPr>
          <a:xfrm>
            <a:off x="4062711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" name="Google Shape;38;p37"/>
          <p:cNvCxnSpPr/>
          <p:nvPr/>
        </p:nvCxnSpPr>
        <p:spPr>
          <a:xfrm>
            <a:off x="4739830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" name="Google Shape;39;p37"/>
          <p:cNvCxnSpPr/>
          <p:nvPr/>
        </p:nvCxnSpPr>
        <p:spPr>
          <a:xfrm>
            <a:off x="5416949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" name="Google Shape;40;p37"/>
          <p:cNvCxnSpPr/>
          <p:nvPr/>
        </p:nvCxnSpPr>
        <p:spPr>
          <a:xfrm>
            <a:off x="6094068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" name="Google Shape;41;p37"/>
          <p:cNvCxnSpPr/>
          <p:nvPr/>
        </p:nvCxnSpPr>
        <p:spPr>
          <a:xfrm>
            <a:off x="6771187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" name="Google Shape;42;p37"/>
          <p:cNvCxnSpPr/>
          <p:nvPr/>
        </p:nvCxnSpPr>
        <p:spPr>
          <a:xfrm>
            <a:off x="7448306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" name="Google Shape;43;p37"/>
          <p:cNvCxnSpPr/>
          <p:nvPr/>
        </p:nvCxnSpPr>
        <p:spPr>
          <a:xfrm>
            <a:off x="812542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4" name="Google Shape;44;p37"/>
          <p:cNvCxnSpPr/>
          <p:nvPr/>
        </p:nvCxnSpPr>
        <p:spPr>
          <a:xfrm>
            <a:off x="8802544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" name="Google Shape;45;p37"/>
          <p:cNvCxnSpPr/>
          <p:nvPr/>
        </p:nvCxnSpPr>
        <p:spPr>
          <a:xfrm>
            <a:off x="947966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" name="Google Shape;46;p37"/>
          <p:cNvCxnSpPr/>
          <p:nvPr/>
        </p:nvCxnSpPr>
        <p:spPr>
          <a:xfrm>
            <a:off x="10156782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7" name="Google Shape;47;p37"/>
          <p:cNvCxnSpPr/>
          <p:nvPr/>
        </p:nvCxnSpPr>
        <p:spPr>
          <a:xfrm>
            <a:off x="10833901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8" name="Google Shape;48;p37"/>
          <p:cNvCxnSpPr/>
          <p:nvPr/>
        </p:nvCxnSpPr>
        <p:spPr>
          <a:xfrm>
            <a:off x="11511020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" name="Google Shape;49;p37"/>
          <p:cNvCxnSpPr/>
          <p:nvPr/>
        </p:nvCxnSpPr>
        <p:spPr>
          <a:xfrm>
            <a:off x="1218814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50.png" /><Relationship Id="rId4" Type="http://schemas.openxmlformats.org/officeDocument/2006/relationships/image" Target="../media/image2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4.png" /><Relationship Id="rId4" Type="http://schemas.openxmlformats.org/officeDocument/2006/relationships/image" Target="../media/image2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6.png" /><Relationship Id="rId4" Type="http://schemas.openxmlformats.org/officeDocument/2006/relationships/image" Target="../media/image2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5.png" /><Relationship Id="rId4" Type="http://schemas.openxmlformats.org/officeDocument/2006/relationships/image" Target="../media/image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7.png" /><Relationship Id="rId4" Type="http://schemas.openxmlformats.org/officeDocument/2006/relationships/image" Target="../media/image2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8.png" /><Relationship Id="rId4" Type="http://schemas.openxmlformats.org/officeDocument/2006/relationships/image" Target="../media/image2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9.png" /><Relationship Id="rId4" Type="http://schemas.openxmlformats.org/officeDocument/2006/relationships/image" Target="../media/image2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52.png" /><Relationship Id="rId4" Type="http://schemas.openxmlformats.org/officeDocument/2006/relationships/image" Target="../media/image2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51.png" /><Relationship Id="rId4" Type="http://schemas.openxmlformats.org/officeDocument/2006/relationships/image" Target="../media/image2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"/>
          <p:cNvSpPr txBox="1"/>
          <p:nvPr>
            <p:ph type="title"/>
          </p:nvPr>
        </p:nvSpPr>
        <p:spPr>
          <a:xfrm>
            <a:off x="666750" y="2714625"/>
            <a:ext cx="6715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en-US" sz="40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Временные ряды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en-US" sz="40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в машинном обучении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План лекции</a:t>
            </a:r>
            <a:endParaRPr/>
          </a:p>
        </p:txBody>
      </p:sp>
      <p:sp>
        <p:nvSpPr>
          <p:cNvPr id="216" name="Google Shape;216;p2"/>
          <p:cNvSpPr/>
          <p:nvPr/>
        </p:nvSpPr>
        <p:spPr>
          <a:xfrm>
            <a:off x="685800" y="1952625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217" name="Google Shape;217;p2"/>
          <p:cNvSpPr/>
          <p:nvPr/>
        </p:nvSpPr>
        <p:spPr>
          <a:xfrm>
            <a:off x="2286000" y="2028825"/>
            <a:ext cx="9144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Компоненты временного ряда</a:t>
            </a:r>
            <a:endParaRPr/>
          </a:p>
        </p:txBody>
      </p:sp>
      <p:sp>
        <p:nvSpPr>
          <p:cNvPr id="218" name="Google Shape;218;p2"/>
          <p:cNvSpPr/>
          <p:nvPr/>
        </p:nvSpPr>
        <p:spPr>
          <a:xfrm>
            <a:off x="685800" y="304800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2286000" y="3124200"/>
            <a:ext cx="9144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Признаки и преобразования</a:t>
            </a:r>
            <a:endParaRPr/>
          </a:p>
        </p:txBody>
      </p:sp>
      <p:sp>
        <p:nvSpPr>
          <p:cNvPr id="220" name="Google Shape;220;p2"/>
          <p:cNvSpPr/>
          <p:nvPr/>
        </p:nvSpPr>
        <p:spPr>
          <a:xfrm>
            <a:off x="685800" y="4143375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2286000" y="4219575"/>
            <a:ext cx="9144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Методы прогнозирования</a:t>
            </a:r>
            <a:endParaRPr/>
          </a:p>
        </p:txBody>
      </p:sp>
      <p:sp>
        <p:nvSpPr>
          <p:cNvPr id="222" name="Google Shape;222;p2"/>
          <p:cNvSpPr/>
          <p:nvPr/>
        </p:nvSpPr>
        <p:spPr>
          <a:xfrm>
            <a:off x="685800" y="523875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/>
          </a:p>
        </p:txBody>
      </p:sp>
      <p:sp>
        <p:nvSpPr>
          <p:cNvPr id="223" name="Google Shape;223;p2"/>
          <p:cNvSpPr/>
          <p:nvPr/>
        </p:nvSpPr>
        <p:spPr>
          <a:xfrm>
            <a:off x="2286000" y="5314950"/>
            <a:ext cx="9144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Оценка точности прогноза</a:t>
            </a:r>
            <a:endParaRPr/>
          </a:p>
        </p:txBody>
      </p:sp>
      <p:pic>
        <p:nvPicPr>
          <p:cNvPr id="224" name="Google Shape;2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/>
          <p:nvPr/>
        </p:nvSpPr>
        <p:spPr>
          <a:xfrm>
            <a:off x="685800" y="2066925"/>
            <a:ext cx="7524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231" name="Google Shape;231;p3"/>
          <p:cNvSpPr/>
          <p:nvPr/>
        </p:nvSpPr>
        <p:spPr>
          <a:xfrm>
            <a:off x="685800" y="3143250"/>
            <a:ext cx="75247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Компоненты ряда</a:t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685800" y="5095875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 описать тренд и сезонность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временного ряда?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Задача прогнозирования</a:t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685800" y="1733550"/>
            <a:ext cx="10744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Прогнозируем спрос на следующие h дней по прошлым наблюдениям.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685800" y="30194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История наблюдений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685800" y="3810000"/>
            <a:ext cx="4953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y₁, y₂, …, yₜ</a:t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6381750" y="30194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Прогнозируемые значения</a:t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6381750" y="3810000"/>
            <a:ext cx="5048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ŷₜ₊₁, …, ŷₜ₊ₕ</a:t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685800" y="5248275"/>
            <a:ext cx="10744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Горизонт h — число шагов вперёд; здесь один шаг равен одному дню.</a:t>
            </a:r>
            <a:endParaRPr/>
          </a:p>
        </p:txBody>
      </p:sp>
      <p:pic>
        <p:nvPicPr>
          <p:cNvPr id="245" name="Google Shape;2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Компоненты временного ряда</a:t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685800" y="17145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yₜ = Tₜ + Sₜ + Rₜ</a:t>
            </a:r>
            <a:endParaRPr/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388" y="2667000"/>
            <a:ext cx="5296574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"/>
          <p:cNvSpPr/>
          <p:nvPr/>
        </p:nvSpPr>
        <p:spPr>
          <a:xfrm>
            <a:off x="8143875" y="2714625"/>
            <a:ext cx="3314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Компоненты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8143875" y="3905250"/>
            <a:ext cx="33147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Tₜ — тренд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Sₜ — сезонная компонента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Rₜ — остаточная компонента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685800" y="6076950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Компоненты помогают выбрать признаки и метод прогнозирования.</a:t>
            </a:r>
            <a:endParaRPr/>
          </a:p>
        </p:txBody>
      </p:sp>
      <p:pic>
        <p:nvPicPr>
          <p:cNvPr id="257" name="Google Shape;2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3006725"/>
            <a:ext cx="9334500" cy="313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Тренд</a:t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685800" y="1714500"/>
            <a:ext cx="10744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Тренд — долгосрочная тенденция роста или снижения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значений временного ряда.</a:t>
            </a:r>
            <a:endParaRPr/>
          </a:p>
        </p:txBody>
      </p:sp>
      <p:pic>
        <p:nvPicPr>
          <p:cNvPr id="266" name="Google Shape;2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Сезонность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85800" y="17145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Сезонность — повторяющиеся колебания с постоянным периодом.</a:t>
            </a:r>
            <a:endParaRPr/>
          </a:p>
        </p:txBody>
      </p:sp>
      <p:pic>
        <p:nvPicPr>
          <p:cNvPr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312" y="2609850"/>
            <a:ext cx="7521176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685800" y="5438775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Годовая сезонность в месячных данных: период — 12 месяцев.</a:t>
            </a:r>
            <a:endParaRPr/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Аддитивная и мультипликативная декомпозиция</a:t>
            </a:r>
            <a:endParaRPr/>
          </a:p>
        </p:txBody>
      </p:sp>
      <p:pic>
        <p:nvPicPr>
          <p:cNvPr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552" y="2095500"/>
            <a:ext cx="10108697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685800" y="52006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yₜ = Tₜ + Sₜ + Rₜ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85800" y="5810250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Размах сезонных колебаний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примерно постоянен.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6429375" y="52006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yₜ = Tₜ × Sₜ × Rₜ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429375" y="5810250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Размах сезонных колебаний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пропорционален уровню ряда.</a:t>
            </a:r>
            <a:endParaRPr/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550" y="3340780"/>
            <a:ext cx="7048500" cy="214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Остаточная компонента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85800" y="1762125"/>
            <a:ext cx="107442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Аддитивная декомпозиция: Rₜ = yₜ − Tₜ − Sₜ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85800" y="2905125"/>
            <a:ext cx="333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Проверка декомпозиции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685800" y="4143375"/>
            <a:ext cx="333375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Если в остатках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сохранились тренд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или сезонность,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декомпозицию стоит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пересмотреть.</a:t>
            </a:r>
            <a:endParaRPr/>
          </a:p>
        </p:txBody>
      </p:sp>
      <p:pic>
        <p:nvPicPr>
          <p:cNvPr id="299" name="Google Shape;2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685800" y="2066925"/>
            <a:ext cx="7524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85800" y="3143250"/>
            <a:ext cx="75247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Признаки и преобразования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85800" y="5095875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 использовать прошлые наблюдения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 построении модели?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" name="Google Shape;313;p11"/>
          <p:cNvGraphicFramePr/>
          <p:nvPr/>
        </p:nvGraphicFramePr>
        <p:xfrm>
          <a:off x="685800" y="28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{38F66905-3555-4E15-A929-F23938F1509A}</a:tableStyleId>
              </a:tblPr>
              <a:tblGrid>
                <a:gridCol w="2148850"/>
                <a:gridCol w="2148850"/>
                <a:gridCol w="2148850"/>
                <a:gridCol w="2148850"/>
                <a:gridCol w="2148850"/>
              </a:tblGrid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Прогноз на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Вчера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дня назад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Неделю назад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Спрос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День 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День 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День 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  <p:sp>
        <p:nvSpPr>
          <p:cNvPr id="314" name="Google Shape;314;p11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Лаговые признаки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85800" y="1628775"/>
            <a:ext cx="107442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Лаговый признак yₜ₋ₖ — значение ряда за k шагов до момента t.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85800" y="5781675"/>
            <a:ext cx="10744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 исторических данных известны признаки и целевые значения.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нового прогноза целевое значение неизвестно.</a:t>
            </a:r>
            <a:endParaRPr/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Скользящее среднее как признак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85800" y="1876425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mₜ = (yₜ₋₁ + … + yₜ₋w) / w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85800" y="3095625"/>
            <a:ext cx="514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10   12   14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685800" y="4324350"/>
            <a:ext cx="50958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Три предыдущих наблюдения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85800" y="5191125"/>
            <a:ext cx="50958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Среднее = 12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429375" y="3095625"/>
            <a:ext cx="50006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Сдвиг на один шаг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перед усреднением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429375" y="4457700"/>
            <a:ext cx="50006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y.shift(1).rolling(3).mean()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429375" y="5810250"/>
            <a:ext cx="5000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Сдвиг исключает прогнозируемое значение yₜ.</a:t>
            </a:r>
            <a:endParaRPr/>
          </a:p>
        </p:txBody>
      </p:sp>
      <p:pic>
        <p:nvPicPr>
          <p:cNvPr id="331" name="Google Shape;3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Скользящее и расширяющееся окно</a:t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85800" y="1695450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прогноза yₜ используем только наблюдения, полученные до t.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85800" y="252412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Скользящее окно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16573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23050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29527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36004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2481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4895850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685800" y="37814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4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1638300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2286000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2933700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3581400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229100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876800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685800" y="44291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5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1638300" y="43529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2286000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2933700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581400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4229100" y="43529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876800" y="43529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685800" y="50768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6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1638300" y="50006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2286000" y="50006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2933700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581400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4229100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4876800" y="50006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85800" y="5781675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Используются последние 3 наблюдения.</a:t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6429375" y="252412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Расширяющееся окно</a:t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74009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80486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86963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93440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99917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10639425" y="3190875"/>
            <a:ext cx="523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429375" y="37814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4</a:t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7381875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8029575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8677275" y="37052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9324975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9972675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10620375" y="37052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6429375" y="44291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5</a:t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7381875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8029575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8677275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9324975" y="43529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9972675" y="43529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10620375" y="43529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6429375" y="5076825"/>
            <a:ext cx="857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 = 6</a:t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7381875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8029575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8677275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9324975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9972675" y="5000625"/>
            <a:ext cx="523875" cy="428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0620375" y="5000625"/>
            <a:ext cx="523875" cy="428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6429375" y="5781675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Используются все прошлые наблюдения.</a:t>
            </a:r>
            <a:endParaRPr/>
          </a:p>
        </p:txBody>
      </p:sp>
      <p:pic>
        <p:nvPicPr>
          <p:cNvPr id="397" name="Google Shape;3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042" y="2924175"/>
            <a:ext cx="5554017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Разности первого порядка</a:t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685800" y="1666875"/>
            <a:ext cx="107442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Разности могут устранить тренд в среднем значении ряда.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Пользу разностей проверяют по точности прогноза исходных значений.</a:t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8143875" y="3114675"/>
            <a:ext cx="32861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Δyₜ = yₜ − yₜ₋₁</a:t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8143875" y="4086225"/>
            <a:ext cx="32861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Модель прогнозирует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приращение, а затем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мы восстанавливаем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значение ряда.</a:t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685800" y="5924550"/>
            <a:ext cx="107442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Обратное преобразование: ŷₜ₊₁ = yₜ + Δŷₜ₊₁</a:t>
            </a:r>
            <a:endParaRPr/>
          </a:p>
        </p:txBody>
      </p:sp>
      <p:pic>
        <p:nvPicPr>
          <p:cNvPr id="409" name="Google Shape;4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"/>
          <p:cNvSpPr/>
          <p:nvPr/>
        </p:nvSpPr>
        <p:spPr>
          <a:xfrm>
            <a:off x="685800" y="2066925"/>
            <a:ext cx="7524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685800" y="3143250"/>
            <a:ext cx="75247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Методы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прогнозирования</a:t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685800" y="5095875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Какие модели использовать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для прогнозирования ряда?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78860"/>
            <a:ext cx="7143750" cy="239582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6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Наивные методы прогнозирования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685800" y="1733550"/>
            <a:ext cx="1074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Наивный метод: прогноз равен последнему наблюдению.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685800" y="2324100"/>
            <a:ext cx="107442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Сезонный наивный метод: значение в той же точке предыдущего сезона.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8143875" y="3381375"/>
            <a:ext cx="3286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ŷₜ = yₜ₋₁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8143875" y="4191000"/>
            <a:ext cx="3286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ŷₜ = yₜ₋ₛ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8143875" y="5172075"/>
            <a:ext cx="32861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Базовые методы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сравнения моделей.</a:t>
            </a:r>
            <a:endParaRPr/>
          </a:p>
        </p:txBody>
      </p:sp>
      <p:pic>
        <p:nvPicPr>
          <p:cNvPr id="430" name="Google Shape;4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Сравнение со сложной моделью</a:t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2133600" y="1695450"/>
            <a:ext cx="3905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Я неделю обучал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сложную модель</a:t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6134100" y="1695450"/>
            <a:ext cx="3905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 «как вчера»</a:t>
            </a:r>
            <a:endParaRPr/>
          </a:p>
        </p:txBody>
      </p:sp>
      <p:pic>
        <p:nvPicPr>
          <p:cNvPr id="439" name="Google Shape;4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2476500"/>
            <a:ext cx="8001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Линейная регрессия для прогноза ряда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685800" y="1695450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Прогнозируем спрос на следующий день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 значениям за предыдущие дни.</a:t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685800" y="2905125"/>
            <a:ext cx="10744200" cy="952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914400" y="3095625"/>
            <a:ext cx="10287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ŷₜ = b + w₁yₜ₋₁ + w₂yₜ₋₂ + w₇yₜ₋₇</a:t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685800" y="4286250"/>
            <a:ext cx="4857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Признаки модели</a:t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685800" y="5048250"/>
            <a:ext cx="50482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прогноза на день 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спрос за 1, 2 и 7 дней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до прогнозируемого дня.</a:t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6429375" y="428625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Обучение модели</a:t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6429375" y="5048250"/>
            <a:ext cx="500062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Коэффициенты b, w₁, w₂, w₇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оценивают при обучении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модели на train.</a:t>
            </a:r>
            <a:endParaRPr/>
          </a:p>
        </p:txBody>
      </p:sp>
      <p:pic>
        <p:nvPicPr>
          <p:cNvPr id="454" name="Google Shape;4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Дерево решений для прогнозирования</a:t>
            </a: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685800" y="1666875"/>
            <a:ext cx="10744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Дерево решений прогнозирует спрос на завтра.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этом примере единственный признак — спрос сегодня.</a:t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3381375" y="3028950"/>
            <a:ext cx="5429250" cy="809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3571875" y="3238500"/>
            <a:ext cx="504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Спрос сегодня больше 100?</a:t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6076950" y="3838575"/>
            <a:ext cx="28575" cy="1905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3371850" y="4000500"/>
            <a:ext cx="5429250" cy="28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3371850" y="4000500"/>
            <a:ext cx="28575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8791575" y="4000500"/>
            <a:ext cx="28575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2381250" y="4114800"/>
            <a:ext cx="1143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9191625" y="4114800"/>
            <a:ext cx="1143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1476375" y="4714875"/>
            <a:ext cx="3810000" cy="952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6905625" y="4714875"/>
            <a:ext cx="3810000" cy="952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1666875" y="4972050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80 заказов завтра</a:t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7096125" y="4972050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120 заказов завтра</a:t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685800" y="6048375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Учебный пример. Порог и значения в листьях определяют при обучении.</a:t>
            </a:r>
            <a:endParaRPr/>
          </a:p>
        </p:txBody>
      </p:sp>
      <p:pic>
        <p:nvPicPr>
          <p:cNvPr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0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Признаки для прогнозирования бустингом</a:t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685800" y="169545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Прогноз спроса на день t по признакам xₜ: ŷₜ = F(xₜ).</a:t>
            </a: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685800" y="2714625"/>
            <a:ext cx="352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Прошлые значения</a:t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>
            <a:off x="4714875" y="2714625"/>
            <a:ext cx="6715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Спрос за 1, 2 и 7 дней до дня 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yₜ₋₁, yₜ₋₂, yₜ₋₇.</a:t>
            </a:r>
            <a:endParaRPr/>
          </a:p>
        </p:txBody>
      </p:sp>
      <p:sp>
        <p:nvSpPr>
          <p:cNvPr id="485" name="Google Shape;485;p20"/>
          <p:cNvSpPr/>
          <p:nvPr/>
        </p:nvSpPr>
        <p:spPr>
          <a:xfrm>
            <a:off x="685800" y="3810000"/>
            <a:ext cx="352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Среднее по окну</a:t>
            </a: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4714875" y="3810000"/>
            <a:ext cx="6715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Средний спрос за 7 дней,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предшествующих дню t.</a:t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685800" y="4905375"/>
            <a:ext cx="352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Календарные признаки</a:t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4714875" y="4905375"/>
            <a:ext cx="6715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недели и признак праздника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прогнозируемого дня t.</a:t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685800" y="6057900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Такие же признаки можно использовать в линейной регрессии.</a:t>
            </a:r>
            <a:endParaRPr/>
          </a:p>
        </p:txBody>
      </p:sp>
      <p:pic>
        <p:nvPicPr>
          <p:cNvPr id="490" name="Google Shape;4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Градиентный бустинг для прогноза спроса</a:t>
            </a:r>
            <a:endParaRPr/>
          </a:p>
        </p:txBody>
      </p:sp>
      <p:sp>
        <p:nvSpPr>
          <p:cNvPr id="497" name="Google Shape;497;p21"/>
          <p:cNvSpPr/>
          <p:nvPr/>
        </p:nvSpPr>
        <p:spPr>
          <a:xfrm>
            <a:off x="685800" y="1685925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Деревья используют лаги, средние по окнам и календарные признаки.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Каждое новое дерево корректирует прогноз уже построенного ансамбля.</a:t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685800" y="3000375"/>
            <a:ext cx="10744200" cy="952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914400" y="3190875"/>
            <a:ext cx="10287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Прогноз = начальная оценка + сумма поправок</a:t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685800" y="4381500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Взаимодействие признаков</a:t>
            </a:r>
            <a:endParaRPr/>
          </a:p>
        </p:txBody>
      </p:sp>
      <p:sp>
        <p:nvSpPr>
          <p:cNvPr id="501" name="Google Shape;501;p21"/>
          <p:cNvSpPr/>
          <p:nvPr/>
        </p:nvSpPr>
        <p:spPr>
          <a:xfrm>
            <a:off x="685800" y="5114925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Связь между спросом сегодня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 завтра может различаться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будних и выходных дней.</a:t>
            </a:r>
            <a:endParaRPr/>
          </a:p>
        </p:txBody>
      </p:sp>
      <p:sp>
        <p:nvSpPr>
          <p:cNvPr id="502" name="Google Shape;502;p21"/>
          <p:cNvSpPr/>
          <p:nvPr/>
        </p:nvSpPr>
        <p:spPr>
          <a:xfrm>
            <a:off x="6429375" y="4381500"/>
            <a:ext cx="50006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Обучение при квадратичной ошибке</a:t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6429375" y="535305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Новое дерево предсказывает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разность между фактическими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значениями и текущим прогнозом.</a:t>
            </a:r>
            <a:endParaRPr/>
          </a:p>
        </p:txBody>
      </p:sp>
      <p:pic>
        <p:nvPicPr>
          <p:cNvPr id="504" name="Google Shape;5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2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Простое экспоненциальное сглаживание</a:t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>
            <a:off x="685800" y="1704975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ряда без тренда и сезонности прогнозируем текущий уровень.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Параметр α (0 &lt; α &lt; 1) задаёт вес нового наблюдения.</a:t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685800" y="3067050"/>
            <a:ext cx="10744200" cy="952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914400" y="3257550"/>
            <a:ext cx="10287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Новая оценка = α × наблюдение + (1 − α) × старая оценка</a:t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685800" y="4429125"/>
            <a:ext cx="4953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Учебный пример</a:t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685800" y="5162550"/>
            <a:ext cx="5238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Старая оценка — 100 заказов.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Новое наблюдение — 120.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 α = 0,2 прогноз на завтра:</a:t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6429375" y="4695825"/>
            <a:ext cx="50006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0,2 × 120 + 0,8 ×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= 104 заказа</a:t>
            </a:r>
            <a:endParaRPr/>
          </a:p>
        </p:txBody>
      </p:sp>
      <p:pic>
        <p:nvPicPr>
          <p:cNvPr id="517" name="Google Shape;5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Сглаживание с трендом и сезонностью</a:t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685800" y="1762125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Метод Хольта</a:t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685800" y="2552700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Экспоненциальное сглаживание с оценкой уровня и скорости роста.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 на h шагов: уровень + h × прирост за один шаг.</a:t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685800" y="3962400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Метод Хольта — Уинтерса</a:t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685800" y="4743450"/>
            <a:ext cx="10744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Дополнительно оценивает повторяющийся сезонный эффект.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аддитивном варианте прибавляет его к прогнозу с трендом.</a:t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685800" y="6067425"/>
            <a:ext cx="10744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После каждого наблюдения оценки компонентов обновляются.</a:t>
            </a:r>
            <a:endParaRPr/>
          </a:p>
        </p:txBody>
      </p:sp>
      <p:pic>
        <p:nvPicPr>
          <p:cNvPr id="529" name="Google Shape;5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Одношаговый и многошаговый прогноз</a:t>
            </a:r>
            <a:endParaRPr/>
          </a:p>
        </p:txBody>
      </p:sp>
      <p:sp>
        <p:nvSpPr>
          <p:cNvPr id="536" name="Google Shape;536;p24"/>
          <p:cNvSpPr/>
          <p:nvPr/>
        </p:nvSpPr>
        <p:spPr>
          <a:xfrm>
            <a:off x="685800" y="2190750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Прогноз на следующий день</a:t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6429375" y="2190750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Прогноз на всю неделю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685800" y="3476625"/>
            <a:ext cx="5143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понедельник строим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 спроса на вторник.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Во вторник получаем новое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наблюдение и строим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прогноз на среду.</a:t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6429375" y="3476625"/>
            <a:ext cx="5000625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понедельник строим прогноз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сразу на следующие семь дней.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Фактический спрос за эти дни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пока неизвестен. Все семь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значений прогнозируем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 доступной истории.</a:t>
            </a:r>
            <a:endParaRPr/>
          </a:p>
        </p:txBody>
      </p:sp>
      <p:pic>
        <p:nvPicPr>
          <p:cNvPr id="540" name="Google Shape;5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Многошаговый прогноз</a:t>
            </a:r>
            <a:endParaRPr/>
          </a:p>
        </p:txBody>
      </p:sp>
      <p:sp>
        <p:nvSpPr>
          <p:cNvPr id="547" name="Google Shape;547;p25"/>
          <p:cNvSpPr/>
          <p:nvPr/>
        </p:nvSpPr>
        <p:spPr>
          <a:xfrm>
            <a:off x="685800" y="1685925"/>
            <a:ext cx="107442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момент t строим прогноз на h шагов вперёд.</a:t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685800" y="2857500"/>
            <a:ext cx="50958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Рекурсивный метод</a:t>
            </a:r>
            <a:endParaRPr/>
          </a:p>
        </p:txBody>
      </p:sp>
      <p:sp>
        <p:nvSpPr>
          <p:cNvPr id="549" name="Google Shape;549;p25"/>
          <p:cNvSpPr/>
          <p:nvPr/>
        </p:nvSpPr>
        <p:spPr>
          <a:xfrm>
            <a:off x="6429375" y="2857500"/>
            <a:ext cx="50006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Прямой метод</a:t>
            </a:r>
            <a:endParaRPr/>
          </a:p>
        </p:txBody>
      </p:sp>
      <p:sp>
        <p:nvSpPr>
          <p:cNvPr id="550" name="Google Shape;550;p25"/>
          <p:cNvSpPr/>
          <p:nvPr/>
        </p:nvSpPr>
        <p:spPr>
          <a:xfrm>
            <a:off x="685800" y="3952875"/>
            <a:ext cx="514350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Одну и ту же модель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применяют последовательно.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Предыдущие прогнозы заменяют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неизвестные наблюдения.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Ошибки могут накапливаться.</a:t>
            </a:r>
            <a:endParaRPr/>
          </a:p>
        </p:txBody>
      </p:sp>
      <p:sp>
        <p:nvSpPr>
          <p:cNvPr id="551" name="Google Shape;551;p25"/>
          <p:cNvSpPr/>
          <p:nvPr/>
        </p:nvSpPr>
        <p:spPr>
          <a:xfrm>
            <a:off x="6429375" y="3952875"/>
            <a:ext cx="5000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Отдельная модель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каждого шага вперёд.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Все модели используют данные,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доступные в момент t.</a:t>
            </a:r>
            <a:endParaRPr/>
          </a:p>
        </p:txBody>
      </p:sp>
      <p:pic>
        <p:nvPicPr>
          <p:cNvPr id="552" name="Google Shape;5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8" name="Google Shape;558;p26"/>
          <p:cNvGraphicFramePr/>
          <p:nvPr/>
        </p:nvGraphicFramePr>
        <p:xfrm>
          <a:off x="68580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{38F66905-3555-4E15-A929-F23938F1509A}</a:tableStyleId>
              </a:tblPr>
              <a:tblGrid>
                <a:gridCol w="3581400"/>
                <a:gridCol w="3581400"/>
                <a:gridCol w="358140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Горизонт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Расчёт прогноза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7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+ 0,8 × 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+ 0,8 × 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62,8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+ 0,8 × 62,8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 u="none" cap="non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  <p:sp>
        <p:nvSpPr>
          <p:cNvPr id="559" name="Google Shape;559;p26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Многошаговый прогноз линейной модели</a:t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685800" y="1724025"/>
            <a:ext cx="107442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Учебный пример: ŷₜ₊₁ = 10 + 0,8yₜ. Последнее наблюдение — 70.</a:t>
            </a:r>
            <a:endParaRPr/>
          </a:p>
        </p:txBody>
      </p:sp>
      <p:sp>
        <p:nvSpPr>
          <p:cNvPr id="561" name="Google Shape;561;p26"/>
          <p:cNvSpPr/>
          <p:nvPr/>
        </p:nvSpPr>
        <p:spPr>
          <a:xfrm>
            <a:off x="685800" y="5657850"/>
            <a:ext cx="107442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Первый прогноз рассчитан по наблюдению 70.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следующих шагов вместо наблюдений подставляем прогнозы.</a:t>
            </a:r>
            <a:endParaRPr/>
          </a:p>
        </p:txBody>
      </p:sp>
      <p:pic>
        <p:nvPicPr>
          <p:cNvPr id="562" name="Google Shape;5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"/>
          <p:cNvSpPr/>
          <p:nvPr/>
        </p:nvSpPr>
        <p:spPr>
          <a:xfrm>
            <a:off x="685800" y="2066925"/>
            <a:ext cx="7524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685800" y="3143250"/>
            <a:ext cx="75247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Оценка точности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прогноза</a:t>
            </a: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685800" y="5095875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 оценить точность прогноза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 новых наблюдениях?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8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Когда в признаки попало будущее</a:t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2133600" y="1695450"/>
            <a:ext cx="3905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Метрики на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 data leakage</a:t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6134100" y="1695450"/>
            <a:ext cx="3905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Метрики на test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без data leakage</a:t>
            </a:r>
            <a:endParaRPr/>
          </a:p>
        </p:txBody>
      </p:sp>
      <p:pic>
        <p:nvPicPr>
          <p:cNvPr id="579" name="Google Shape;5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2476500"/>
            <a:ext cx="8001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9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Случайное разбиение при прогнозировании</a:t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685800" y="1714500"/>
            <a:ext cx="10744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 случайном split в train могут попасть наблюдения,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полученные позже наблюдений из validation.</a:t>
            </a:r>
            <a:endParaRPr/>
          </a:p>
        </p:txBody>
      </p:sp>
      <p:sp>
        <p:nvSpPr>
          <p:cNvPr id="588" name="Google Shape;588;p29"/>
          <p:cNvSpPr/>
          <p:nvPr/>
        </p:nvSpPr>
        <p:spPr>
          <a:xfrm>
            <a:off x="685800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1</a:t>
            </a:r>
            <a:endParaRPr/>
          </a:p>
        </p:txBody>
      </p:sp>
      <p:sp>
        <p:nvSpPr>
          <p:cNvPr id="589" name="Google Shape;589;p29"/>
          <p:cNvSpPr/>
          <p:nvPr/>
        </p:nvSpPr>
        <p:spPr>
          <a:xfrm>
            <a:off x="685800" y="3667125"/>
            <a:ext cx="1200150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9"/>
          <p:cNvSpPr/>
          <p:nvPr/>
        </p:nvSpPr>
        <p:spPr>
          <a:xfrm>
            <a:off x="2047875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2</a:t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2047875" y="3667125"/>
            <a:ext cx="1200150" cy="714375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9"/>
          <p:cNvSpPr/>
          <p:nvPr/>
        </p:nvSpPr>
        <p:spPr>
          <a:xfrm>
            <a:off x="3409950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3</a:t>
            </a:r>
            <a:endParaRPr/>
          </a:p>
        </p:txBody>
      </p:sp>
      <p:sp>
        <p:nvSpPr>
          <p:cNvPr id="593" name="Google Shape;593;p29"/>
          <p:cNvSpPr/>
          <p:nvPr/>
        </p:nvSpPr>
        <p:spPr>
          <a:xfrm>
            <a:off x="3409950" y="3667125"/>
            <a:ext cx="1200150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9"/>
          <p:cNvSpPr/>
          <p:nvPr/>
        </p:nvSpPr>
        <p:spPr>
          <a:xfrm>
            <a:off x="4772025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4</a:t>
            </a:r>
            <a:endParaRPr/>
          </a:p>
        </p:txBody>
      </p:sp>
      <p:sp>
        <p:nvSpPr>
          <p:cNvPr id="595" name="Google Shape;595;p29"/>
          <p:cNvSpPr/>
          <p:nvPr/>
        </p:nvSpPr>
        <p:spPr>
          <a:xfrm>
            <a:off x="4772025" y="3667125"/>
            <a:ext cx="1200150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6134100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5</a:t>
            </a: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6134100" y="3667125"/>
            <a:ext cx="1200150" cy="714375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9"/>
          <p:cNvSpPr/>
          <p:nvPr/>
        </p:nvSpPr>
        <p:spPr>
          <a:xfrm>
            <a:off x="7496175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6</a:t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>
            <a:off x="7496175" y="3667125"/>
            <a:ext cx="1200150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9"/>
          <p:cNvSpPr/>
          <p:nvPr/>
        </p:nvSpPr>
        <p:spPr>
          <a:xfrm>
            <a:off x="8858250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7</a:t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8858250" y="3667125"/>
            <a:ext cx="1200150" cy="714375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10220325" y="3095625"/>
            <a:ext cx="120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День 8</a:t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10220325" y="3667125"/>
            <a:ext cx="1200150" cy="7143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685800" y="4791075"/>
            <a:ext cx="361950" cy="3619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1238250" y="4762500"/>
            <a:ext cx="361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6429375" y="4791075"/>
            <a:ext cx="361950" cy="3619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6981825" y="47625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608" name="Google Shape;608;p29"/>
          <p:cNvSpPr/>
          <p:nvPr/>
        </p:nvSpPr>
        <p:spPr>
          <a:xfrm>
            <a:off x="685800" y="5724525"/>
            <a:ext cx="1074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Для прогноза дня 2 недоступны наблюдения за дни 3–8.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Случайное разбиение этого ограничения не учитывает.</a:t>
            </a:r>
            <a:endParaRPr/>
          </a:p>
        </p:txBody>
      </p:sp>
      <p:pic>
        <p:nvPicPr>
          <p:cNvPr id="609" name="Google Shape;6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0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Train / validation / test</a:t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685800" y="17145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Данные делим по времени: train → validation → test.</a:t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685800" y="2924175"/>
            <a:ext cx="5095875" cy="8572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5781675" y="2924175"/>
            <a:ext cx="2857500" cy="8572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"/>
          <p:cNvSpPr/>
          <p:nvPr/>
        </p:nvSpPr>
        <p:spPr>
          <a:xfrm>
            <a:off x="8639175" y="2924175"/>
            <a:ext cx="2790825" cy="8572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952500" y="3114675"/>
            <a:ext cx="4572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6000750" y="3114675"/>
            <a:ext cx="2524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8934450" y="3114675"/>
            <a:ext cx="2190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685800" y="4333875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685800" y="5124450"/>
            <a:ext cx="34099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Обучаем модель.</a:t>
            </a:r>
            <a:endParaRPr/>
          </a:p>
        </p:txBody>
      </p:sp>
      <p:sp>
        <p:nvSpPr>
          <p:cNvPr id="625" name="Google Shape;625;p30"/>
          <p:cNvSpPr/>
          <p:nvPr/>
        </p:nvSpPr>
        <p:spPr>
          <a:xfrm>
            <a:off x="4352925" y="4333875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4352925" y="5124450"/>
            <a:ext cx="34099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Выбираем модель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 гиперпараметры.</a:t>
            </a:r>
            <a:endParaRPr/>
          </a:p>
        </p:txBody>
      </p:sp>
      <p:sp>
        <p:nvSpPr>
          <p:cNvPr id="627" name="Google Shape;627;p30"/>
          <p:cNvSpPr/>
          <p:nvPr/>
        </p:nvSpPr>
        <p:spPr>
          <a:xfrm>
            <a:off x="8020050" y="4333875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628" name="Google Shape;628;p30"/>
          <p:cNvSpPr/>
          <p:nvPr/>
        </p:nvSpPr>
        <p:spPr>
          <a:xfrm>
            <a:off x="8020050" y="5124450"/>
            <a:ext cx="34099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Оцениваем качество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выбранной модели.</a:t>
            </a:r>
            <a:endParaRPr/>
          </a:p>
        </p:txBody>
      </p:sp>
      <p:pic>
        <p:nvPicPr>
          <p:cNvPr id="629" name="Google Shape;6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1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Кросс-валидация временных рядов</a:t>
            </a:r>
            <a:endParaRPr/>
          </a:p>
        </p:txBody>
      </p:sp>
      <p:sp>
        <p:nvSpPr>
          <p:cNvPr id="636" name="Google Shape;636;p31"/>
          <p:cNvSpPr/>
          <p:nvPr/>
        </p:nvSpPr>
        <p:spPr>
          <a:xfrm>
            <a:off x="685800" y="1724025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каждом фолде validation расположен позже train.</a:t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685800" y="2657475"/>
            <a:ext cx="304800" cy="3048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1162050" y="2571750"/>
            <a:ext cx="3238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6096000" y="2657475"/>
            <a:ext cx="304800" cy="30480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>
            <a:off x="6572250" y="257175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641" name="Google Shape;641;p31"/>
          <p:cNvSpPr/>
          <p:nvPr/>
        </p:nvSpPr>
        <p:spPr>
          <a:xfrm>
            <a:off x="685800" y="33909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1524000" y="33337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1"/>
          <p:cNvSpPr/>
          <p:nvPr/>
        </p:nvSpPr>
        <p:spPr>
          <a:xfrm>
            <a:off x="2505075" y="33337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3486150" y="33337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1"/>
          <p:cNvSpPr/>
          <p:nvPr/>
        </p:nvSpPr>
        <p:spPr>
          <a:xfrm>
            <a:off x="4467225" y="33337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5448300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6429375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1"/>
          <p:cNvSpPr/>
          <p:nvPr/>
        </p:nvSpPr>
        <p:spPr>
          <a:xfrm>
            <a:off x="7410450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1"/>
          <p:cNvSpPr/>
          <p:nvPr/>
        </p:nvSpPr>
        <p:spPr>
          <a:xfrm>
            <a:off x="8391525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1"/>
          <p:cNvSpPr/>
          <p:nvPr/>
        </p:nvSpPr>
        <p:spPr>
          <a:xfrm>
            <a:off x="9372600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1"/>
          <p:cNvSpPr/>
          <p:nvPr/>
        </p:nvSpPr>
        <p:spPr>
          <a:xfrm>
            <a:off x="10353675" y="33337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685800" y="40005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53" name="Google Shape;653;p31"/>
          <p:cNvSpPr/>
          <p:nvPr/>
        </p:nvSpPr>
        <p:spPr>
          <a:xfrm>
            <a:off x="1524000" y="39433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1"/>
          <p:cNvSpPr/>
          <p:nvPr/>
        </p:nvSpPr>
        <p:spPr>
          <a:xfrm>
            <a:off x="2505075" y="39433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1"/>
          <p:cNvSpPr/>
          <p:nvPr/>
        </p:nvSpPr>
        <p:spPr>
          <a:xfrm>
            <a:off x="3486150" y="39433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4467225" y="39433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1"/>
          <p:cNvSpPr/>
          <p:nvPr/>
        </p:nvSpPr>
        <p:spPr>
          <a:xfrm>
            <a:off x="5448300" y="39433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6429375" y="39433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1"/>
          <p:cNvSpPr/>
          <p:nvPr/>
        </p:nvSpPr>
        <p:spPr>
          <a:xfrm>
            <a:off x="7410450" y="39433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8391525" y="39433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1"/>
          <p:cNvSpPr/>
          <p:nvPr/>
        </p:nvSpPr>
        <p:spPr>
          <a:xfrm>
            <a:off x="9372600" y="39433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1"/>
          <p:cNvSpPr/>
          <p:nvPr/>
        </p:nvSpPr>
        <p:spPr>
          <a:xfrm>
            <a:off x="10353675" y="39433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1"/>
          <p:cNvSpPr/>
          <p:nvPr/>
        </p:nvSpPr>
        <p:spPr>
          <a:xfrm>
            <a:off x="685800" y="46101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1524000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1"/>
          <p:cNvSpPr/>
          <p:nvPr/>
        </p:nvSpPr>
        <p:spPr>
          <a:xfrm>
            <a:off x="2505075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3486150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4467225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5448300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6429375" y="45529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7410450" y="45529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"/>
          <p:cNvSpPr/>
          <p:nvPr/>
        </p:nvSpPr>
        <p:spPr>
          <a:xfrm>
            <a:off x="8391525" y="45529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9372600" y="45529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1"/>
          <p:cNvSpPr/>
          <p:nvPr/>
        </p:nvSpPr>
        <p:spPr>
          <a:xfrm>
            <a:off x="10353675" y="4552950"/>
            <a:ext cx="895350" cy="4000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685800" y="52197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75" name="Google Shape;675;p31"/>
          <p:cNvSpPr/>
          <p:nvPr/>
        </p:nvSpPr>
        <p:spPr>
          <a:xfrm>
            <a:off x="1524000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1"/>
          <p:cNvSpPr/>
          <p:nvPr/>
        </p:nvSpPr>
        <p:spPr>
          <a:xfrm>
            <a:off x="2505075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1"/>
          <p:cNvSpPr/>
          <p:nvPr/>
        </p:nvSpPr>
        <p:spPr>
          <a:xfrm>
            <a:off x="3486150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4467225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5448300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6429375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7410450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8391525" y="5162550"/>
            <a:ext cx="895350" cy="400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9372600" y="51625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10353675" y="5162550"/>
            <a:ext cx="895350" cy="400050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9191625" y="26479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Время →</a:t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685800" y="5791200"/>
            <a:ext cx="1074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каждом фолде модель обучаем заново на train.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Параметры предобработки также оцениваем только на train.</a:t>
            </a:r>
            <a:endParaRPr/>
          </a:p>
        </p:txBody>
      </p:sp>
      <p:pic>
        <p:nvPicPr>
          <p:cNvPr id="687" name="Google Shape;6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2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Data leakage: использование будущих данных</a:t>
            </a:r>
            <a:endParaRPr/>
          </a:p>
        </p:txBody>
      </p:sp>
      <p:sp>
        <p:nvSpPr>
          <p:cNvPr id="694" name="Google Shape;694;p32"/>
          <p:cNvSpPr/>
          <p:nvPr/>
        </p:nvSpPr>
        <p:spPr>
          <a:xfrm>
            <a:off x="685800" y="17145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Вечером понедельника прогнозируем спрос на вторник.</a:t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685800" y="2857500"/>
            <a:ext cx="5048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Корректный признак</a:t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685800" y="3714750"/>
            <a:ext cx="50482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Средний спрос за субботу,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воскресенье и понедельник.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Все три значения уже известны.</a:t>
            </a:r>
            <a:endParaRPr/>
          </a:p>
        </p:txBody>
      </p:sp>
      <p:sp>
        <p:nvSpPr>
          <p:cNvPr id="697" name="Google Shape;697;p32"/>
          <p:cNvSpPr/>
          <p:nvPr/>
        </p:nvSpPr>
        <p:spPr>
          <a:xfrm>
            <a:off x="6429375" y="2857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Признак с утечкой</a:t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6429375" y="3714750"/>
            <a:ext cx="50006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Средний спрос за понедельник,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вторник и среду.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Вторник и среда ещё не наступили.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Их фактический спрос неизвестен.</a:t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685800" y="6124575"/>
            <a:ext cx="1074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исторических данных будущие значения есть, но использовать их нельзя.</a:t>
            </a:r>
            <a:endParaRPr/>
          </a:p>
        </p:txBody>
      </p:sp>
      <p:pic>
        <p:nvPicPr>
          <p:cNvPr id="700" name="Google Shape;7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3"/>
          <p:cNvSpPr/>
          <p:nvPr/>
        </p:nvSpPr>
        <p:spPr>
          <a:xfrm>
            <a:off x="685800" y="647700"/>
            <a:ext cx="895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Сравнение точности прогнозов</a:t>
            </a:r>
            <a:endParaRPr/>
          </a:p>
        </p:txBody>
      </p:sp>
      <p:sp>
        <p:nvSpPr>
          <p:cNvPr id="707" name="Google Shape;707;p33"/>
          <p:cNvSpPr/>
          <p:nvPr/>
        </p:nvSpPr>
        <p:spPr>
          <a:xfrm>
            <a:off x="685800" y="1847850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/>
          </a:p>
        </p:txBody>
      </p:sp>
      <p:sp>
        <p:nvSpPr>
          <p:cNvPr id="708" name="Google Shape;708;p33"/>
          <p:cNvSpPr/>
          <p:nvPr/>
        </p:nvSpPr>
        <p:spPr>
          <a:xfrm>
            <a:off x="4095750" y="1847850"/>
            <a:ext cx="7334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Средняя абсолютная ошибка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единицах прогнозируемой величины.</a:t>
            </a:r>
            <a:endParaRPr/>
          </a:p>
        </p:txBody>
      </p:sp>
      <p:sp>
        <p:nvSpPr>
          <p:cNvPr id="709" name="Google Shape;709;p33"/>
          <p:cNvSpPr/>
          <p:nvPr/>
        </p:nvSpPr>
        <p:spPr>
          <a:xfrm>
            <a:off x="685800" y="3086100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/>
          </a:p>
        </p:txBody>
      </p:sp>
      <p:sp>
        <p:nvSpPr>
          <p:cNvPr id="710" name="Google Shape;710;p33"/>
          <p:cNvSpPr/>
          <p:nvPr/>
        </p:nvSpPr>
        <p:spPr>
          <a:xfrm>
            <a:off x="4095750" y="3086100"/>
            <a:ext cx="7334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Сильнее реагирует на большие ошибки,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чем MAE.</a:t>
            </a:r>
            <a:endParaRPr/>
          </a:p>
        </p:txBody>
      </p:sp>
      <p:sp>
        <p:nvSpPr>
          <p:cNvPr id="711" name="Google Shape;711;p33"/>
          <p:cNvSpPr/>
          <p:nvPr/>
        </p:nvSpPr>
        <p:spPr>
          <a:xfrm>
            <a:off x="685800" y="4324350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/>
          </a:p>
        </p:txBody>
      </p:sp>
      <p:sp>
        <p:nvSpPr>
          <p:cNvPr id="712" name="Google Shape;712;p33"/>
          <p:cNvSpPr/>
          <p:nvPr/>
        </p:nvSpPr>
        <p:spPr>
          <a:xfrm>
            <a:off x="4095750" y="4324350"/>
            <a:ext cx="7334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Средняя абсолютная процентная ошибка.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Не определена при нулях; малые фактические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значения могут давать большие проценты.</a:t>
            </a:r>
            <a:endParaRPr/>
          </a:p>
        </p:txBody>
      </p:sp>
      <p:sp>
        <p:nvSpPr>
          <p:cNvPr id="713" name="Google Shape;713;p33"/>
          <p:cNvSpPr/>
          <p:nvPr/>
        </p:nvSpPr>
        <p:spPr>
          <a:xfrm>
            <a:off x="685800" y="5762625"/>
            <a:ext cx="107442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Выбор модели — по метрикам на validation.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Итоговая оценка — на test при одинаковом горизонте прогноза.</a:t>
            </a:r>
            <a:endParaRPr/>
          </a:p>
        </p:txBody>
      </p:sp>
      <p:pic>
        <p:nvPicPr>
          <p:cNvPr id="714" name="Google Shape;7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Вопросы для самопроверки</a:t>
            </a:r>
            <a:endParaRPr/>
          </a:p>
        </p:txBody>
      </p:sp>
      <p:sp>
        <p:nvSpPr>
          <p:cNvPr id="721" name="Google Shape;721;p34"/>
          <p:cNvSpPr/>
          <p:nvPr/>
        </p:nvSpPr>
        <p:spPr>
          <a:xfrm>
            <a:off x="685800" y="1809750"/>
            <a:ext cx="1047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75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722" name="Google Shape;722;p34"/>
          <p:cNvSpPr/>
          <p:nvPr/>
        </p:nvSpPr>
        <p:spPr>
          <a:xfrm>
            <a:off x="2143125" y="1809750"/>
            <a:ext cx="9286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Всегда ли использование фактических значений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из test в лагах означает утечку?</a:t>
            </a:r>
            <a:endParaRPr/>
          </a:p>
        </p:txBody>
      </p:sp>
      <p:sp>
        <p:nvSpPr>
          <p:cNvPr id="723" name="Google Shape;723;p34"/>
          <p:cNvSpPr/>
          <p:nvPr/>
        </p:nvSpPr>
        <p:spPr>
          <a:xfrm>
            <a:off x="685800" y="2971800"/>
            <a:ext cx="1047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75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724" name="Google Shape;724;p34"/>
          <p:cNvSpPr/>
          <p:nvPr/>
        </p:nvSpPr>
        <p:spPr>
          <a:xfrm>
            <a:off x="2143125" y="2971800"/>
            <a:ext cx="9286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Почему дереву решений сложно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экстраполировать тренд?</a:t>
            </a:r>
            <a:endParaRPr/>
          </a:p>
        </p:txBody>
      </p:sp>
      <p:sp>
        <p:nvSpPr>
          <p:cNvPr id="725" name="Google Shape;725;p34"/>
          <p:cNvSpPr/>
          <p:nvPr/>
        </p:nvSpPr>
        <p:spPr>
          <a:xfrm>
            <a:off x="685800" y="4133850"/>
            <a:ext cx="1047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75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726" name="Google Shape;726;p34"/>
          <p:cNvSpPr/>
          <p:nvPr/>
        </p:nvSpPr>
        <p:spPr>
          <a:xfrm>
            <a:off x="2143125" y="4133850"/>
            <a:ext cx="9286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Почему прогнозировать изменение ряда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может быть проще, чем его значение?</a:t>
            </a:r>
            <a:endParaRPr/>
          </a:p>
        </p:txBody>
      </p:sp>
      <p:sp>
        <p:nvSpPr>
          <p:cNvPr id="727" name="Google Shape;727;p34"/>
          <p:cNvSpPr/>
          <p:nvPr/>
        </p:nvSpPr>
        <p:spPr>
          <a:xfrm>
            <a:off x="685800" y="5295900"/>
            <a:ext cx="1047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75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2143125" y="5295900"/>
            <a:ext cx="9286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Может ли модель быть лучше по MAE,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но хуже по RMSE?</a:t>
            </a:r>
            <a:endParaRPr/>
          </a:p>
        </p:txBody>
      </p:sp>
      <p:pic>
        <p:nvPicPr>
          <p:cNvPr id="729" name="Google Shape;7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5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Для самостоятельного изучения</a:t>
            </a:r>
            <a:endParaRPr/>
          </a:p>
        </p:txBody>
      </p:sp>
      <p:sp>
        <p:nvSpPr>
          <p:cNvPr id="736" name="Google Shape;736;p35"/>
          <p:cNvSpPr/>
          <p:nvPr/>
        </p:nvSpPr>
        <p:spPr>
          <a:xfrm>
            <a:off x="685800" y="1743075"/>
            <a:ext cx="107442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ARIMA и SARIMA</a:t>
            </a:r>
            <a:endParaRPr/>
          </a:p>
        </p:txBody>
      </p:sp>
      <p:sp>
        <p:nvSpPr>
          <p:cNvPr id="737" name="Google Shape;737;p35"/>
          <p:cNvSpPr/>
          <p:nvPr/>
        </p:nvSpPr>
        <p:spPr>
          <a:xfrm>
            <a:off x="685800" y="2762250"/>
            <a:ext cx="107442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ARIMA объединяет авторегрессию, разности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 зависимость от прошлых ошибок прогноза.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SARIMA дополнительно учитывает сезонность.</a:t>
            </a:r>
            <a:endParaRPr/>
          </a:p>
        </p:txBody>
      </p:sp>
      <p:sp>
        <p:nvSpPr>
          <p:cNvPr id="738" name="Google Shape;738;p35"/>
          <p:cNvSpPr/>
          <p:nvPr/>
        </p:nvSpPr>
        <p:spPr>
          <a:xfrm>
            <a:off x="685800" y="4686300"/>
            <a:ext cx="1074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Рекомендуемое чтение</a:t>
            </a:r>
            <a:endParaRPr/>
          </a:p>
        </p:txBody>
      </p:sp>
      <p:sp>
        <p:nvSpPr>
          <p:cNvPr id="739" name="Google Shape;739;p35"/>
          <p:cNvSpPr/>
          <p:nvPr/>
        </p:nvSpPr>
        <p:spPr>
          <a:xfrm>
            <a:off x="685800" y="5467350"/>
            <a:ext cx="10744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Forecasting: Principles and Practice, глава 9.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Начать с разделов о стационарности, разностях и авторегрессии.</a:t>
            </a:r>
            <a:endParaRPr/>
          </a:p>
        </p:txBody>
      </p:sp>
      <p:pic>
        <p:nvPicPr>
          <p:cNvPr id="740" name="Google Shape;7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5933" y="692150"/>
            <a:ext cx="1793903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"/>
          <p:cNvSpPr/>
          <p:nvPr/>
        </p:nvSpPr>
        <p:spPr>
          <a:xfrm>
            <a:off x="685800" y="647700"/>
            <a:ext cx="895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На семинаре</a:t>
            </a:r>
            <a:endParaRPr/>
          </a:p>
        </p:txBody>
      </p:sp>
      <p:sp>
        <p:nvSpPr>
          <p:cNvPr id="747" name="Google Shape;747;p36"/>
          <p:cNvSpPr/>
          <p:nvPr/>
        </p:nvSpPr>
        <p:spPr>
          <a:xfrm>
            <a:off x="685800" y="2952750"/>
            <a:ext cx="4857750" cy="261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Построим лаговые признаки.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Сравним линейную регрессию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 наивным прогнозом.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Рассчитаем метрики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 отложенном test.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