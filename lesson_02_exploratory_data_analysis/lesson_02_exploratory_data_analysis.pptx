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y="6858000" cx="12192000"/>
  <p:notesSz cx="6858000" cy="9144000"/>
  <p:embeddedFontLst>
    <p:embeddedFont>
      <p:font typeface="Play"/>
      <p:regular r:id="rId35"/>
      <p:bold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7" roundtripDataSignature="AMtx7mhNHSD34O6QPFOcmYPFy5R3HXwr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43F1D2-55A4-40B0-9680-8E050C213701}">
  <a:tblStyle styleId="{F843F1D2-55A4-40B0-9680-8E050C2137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Play-regular.fntdata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customschemas.google.com/relationships/presentationmetadata" Target="metadata"/><Relationship Id="rId14" Type="http://schemas.openxmlformats.org/officeDocument/2006/relationships/slide" Target="slides/slide9.xml"/><Relationship Id="rId36" Type="http://schemas.openxmlformats.org/officeDocument/2006/relationships/font" Target="fonts/Play-bold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78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78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8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60" name="Google Shape;60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79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79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79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" name="Google Shape;66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Заголовок">
  <p:cSld name="1_Заголовок">
    <p:bg>
      <p:bgPr>
        <a:solidFill>
          <a:schemeClr val="lt2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9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0" name="Google Shape;70;p9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732580" y="692150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7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87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87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5" name="Google Shape;75;p8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0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80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0" name="Google Shape;80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80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86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86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86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6" name="Google Shape;86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81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8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91" name="Google Shape;91;p8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6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p9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96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6" name="Google Shape;96;p96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96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96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96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00" name="Google Shape;100;p9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85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3" name="Google Shape;103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8"/>
          <p:cNvSpPr txBox="1"/>
          <p:nvPr>
            <p:ph idx="1" type="body"/>
          </p:nvPr>
        </p:nvSpPr>
        <p:spPr>
          <a:xfrm>
            <a:off x="658813" y="4728128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88"/>
          <p:cNvSpPr txBox="1"/>
          <p:nvPr>
            <p:ph type="title"/>
          </p:nvPr>
        </p:nvSpPr>
        <p:spPr>
          <a:xfrm>
            <a:off x="622261" y="2783175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88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89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89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89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94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9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9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4" name="Google Shape;124;p9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97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97"/>
          <p:cNvSpPr txBox="1"/>
          <p:nvPr>
            <p:ph idx="2" type="body"/>
          </p:nvPr>
        </p:nvSpPr>
        <p:spPr>
          <a:xfrm>
            <a:off x="3359150" y="4646741"/>
            <a:ext cx="8200516" cy="3180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97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9" name="Google Shape;129;p97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800"/>
              <a:buFont typeface="Arial"/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97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31" name="Google Shape;131;p9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98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98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9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6" name="Google Shape;136;p9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99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9" name="Google Shape;139;p99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99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9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99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143" name="Google Shape;143;p9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0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100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100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10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1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101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2" name="Google Shape;152;p101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  <p:pic>
        <p:nvPicPr>
          <p:cNvPr id="153" name="Google Shape;153;p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02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102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7" name="Google Shape;157;p10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  <p:pic>
        <p:nvPicPr>
          <p:cNvPr id="158" name="Google Shape;15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0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03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103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103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64" name="Google Shape;164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4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104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104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69" name="Google Shape;169;p10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льзовательский макет">
  <p:cSld name="Пользовательский макет">
    <p:bg>
      <p:bgPr>
        <a:solidFill>
          <a:schemeClr val="dk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105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200"/>
              <a:buChar char="−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74" name="Google Shape;174;p1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7" name="Google Shape;177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1" name="Google Shape;181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6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5" name="Google Shape;185;p10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6" name="Google Shape;186;p10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7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107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0" name="Google Shape;190;p10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1" name="Google Shape;191;p10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8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4" name="Google Shape;194;p108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108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96" name="Google Shape;196;p10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9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9" name="Google Shape;199;p109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109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0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03" name="Google Shape;203;p110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110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110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110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07" name="Google Shape;207;p1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theme" Target="../theme/theme2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77"/>
          <p:cNvSpPr txBox="1"/>
          <p:nvPr>
            <p:ph idx="1" type="body"/>
          </p:nvPr>
        </p:nvSpPr>
        <p:spPr>
          <a:xfrm>
            <a:off x="658813" y="1773238"/>
            <a:ext cx="10855852" cy="367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77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77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4" name="Google Shape;14;p77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5" name="Google Shape;15;p77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6" name="Google Shape;16;p77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7" name="Google Shape;17;p77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8" name="Google Shape;18;p77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9" name="Google Shape;19;p77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0" name="Google Shape;20;p77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1" name="Google Shape;21;p77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2" name="Google Shape;22;p77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3" name="Google Shape;23;p77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4" name="Google Shape;24;p77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5" name="Google Shape;25;p77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6" name="Google Shape;26;p77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7" name="Google Shape;27;p77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8" name="Google Shape;28;p77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9" name="Google Shape;29;p77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0" name="Google Shape;30;p77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1" name="Google Shape;31;p77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</p:grpSp>
      <p:grpSp>
        <p:nvGrpSpPr>
          <p:cNvPr id="32" name="Google Shape;32;p77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77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4" name="Google Shape;34;p77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5" name="Google Shape;35;p77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6" name="Google Shape;36;p77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7" name="Google Shape;37;p77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8" name="Google Shape;38;p77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9" name="Google Shape;39;p77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0" name="Google Shape;40;p77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1" name="Google Shape;41;p77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2" name="Google Shape;42;p77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3" name="Google Shape;43;p77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4" name="Google Shape;44;p77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5" name="Google Shape;45;p77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6" name="Google Shape;46;p77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7" name="Google Shape;47;p77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8" name="Google Shape;48;p77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9" name="Google Shape;49;p77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50" name="Google Shape;50;p77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51" name="Google Shape;51;p77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6.xml" /><Relationship Id="rId3" Type="http://schemas.openxmlformats.org/officeDocument/2006/relationships/image" Target="../media/image18.pn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12.jpg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18.png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18.png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18.png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18.png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0.xml" /><Relationship Id="rId3" Type="http://schemas.openxmlformats.org/officeDocument/2006/relationships/image" Target="../media/image15.png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"/>
          <p:cNvSpPr txBox="1"/>
          <p:nvPr>
            <p:ph type="title"/>
          </p:nvPr>
        </p:nvSpPr>
        <p:spPr>
          <a:xfrm>
            <a:off x="658825" y="3096450"/>
            <a:ext cx="6835800" cy="13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4800"/>
              <a:t>Разведочный анализ данных</a:t>
            </a:r>
            <a:endParaRPr sz="4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f560cde4dd_1_45"/>
          <p:cNvSpPr/>
          <p:nvPr/>
        </p:nvSpPr>
        <p:spPr>
          <a:xfrm>
            <a:off x="1651788" y="1449390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Зачем нужен EDA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18" name="Google Shape;218;g3f560cde4dd_1_45"/>
          <p:cNvSpPr txBox="1"/>
          <p:nvPr>
            <p:ph type="title"/>
          </p:nvPr>
        </p:nvSpPr>
        <p:spPr>
          <a:xfrm>
            <a:off x="658825" y="590475"/>
            <a:ext cx="8457900" cy="6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solidFill>
                  <a:schemeClr val="dk2"/>
                </a:solidFill>
              </a:rPr>
              <a:t>Сегодня на занятии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19" name="Google Shape;219;g3f560cde4dd_1_45"/>
          <p:cNvSpPr/>
          <p:nvPr/>
        </p:nvSpPr>
        <p:spPr>
          <a:xfrm>
            <a:off x="658801" y="1470545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g3f560cde4dd_1_45"/>
          <p:cNvSpPr/>
          <p:nvPr/>
        </p:nvSpPr>
        <p:spPr>
          <a:xfrm>
            <a:off x="1651788" y="2454915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Распределения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1" name="Google Shape;221;g3f560cde4dd_1_45"/>
          <p:cNvSpPr/>
          <p:nvPr/>
        </p:nvSpPr>
        <p:spPr>
          <a:xfrm>
            <a:off x="658801" y="247607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g3f560cde4dd_1_45"/>
          <p:cNvSpPr/>
          <p:nvPr/>
        </p:nvSpPr>
        <p:spPr>
          <a:xfrm>
            <a:off x="1651788" y="3481590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Пропуски и выбросы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3" name="Google Shape;223;g3f560cde4dd_1_45"/>
          <p:cNvSpPr/>
          <p:nvPr/>
        </p:nvSpPr>
        <p:spPr>
          <a:xfrm>
            <a:off x="658801" y="3502745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g3f560cde4dd_1_45"/>
          <p:cNvSpPr/>
          <p:nvPr/>
        </p:nvSpPr>
        <p:spPr>
          <a:xfrm>
            <a:off x="1651788" y="4508265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Зависимости между признаками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" name="Google Shape;225;g3f560cde4dd_1_45"/>
          <p:cNvSpPr/>
          <p:nvPr/>
        </p:nvSpPr>
        <p:spPr>
          <a:xfrm>
            <a:off x="658801" y="452942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f560cde4dd_1_277"/>
          <p:cNvSpPr/>
          <p:nvPr/>
        </p:nvSpPr>
        <p:spPr>
          <a:xfrm>
            <a:off x="671512" y="2153478"/>
            <a:ext cx="53658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изучить структуру данных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g3f560cde4dd_1_277"/>
          <p:cNvSpPr/>
          <p:nvPr/>
        </p:nvSpPr>
        <p:spPr>
          <a:xfrm>
            <a:off x="6154737" y="2155793"/>
            <a:ext cx="53913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оценить основные статистики и распределения</a:t>
            </a:r>
            <a:endParaRPr b="0" i="0" sz="1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32" name="Google Shape;232;g3f560cde4dd_1_277"/>
          <p:cNvSpPr txBox="1"/>
          <p:nvPr>
            <p:ph type="title"/>
          </p:nvPr>
        </p:nvSpPr>
        <p:spPr>
          <a:xfrm>
            <a:off x="677325" y="692150"/>
            <a:ext cx="8624100" cy="6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Что такое EDA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33" name="Google Shape;233;g3f560cde4dd_1_277"/>
          <p:cNvSpPr/>
          <p:nvPr/>
        </p:nvSpPr>
        <p:spPr>
          <a:xfrm>
            <a:off x="671512" y="4239004"/>
            <a:ext cx="53658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обнаружить пропуски, выбросы и аномалии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34" name="Google Shape;234;g3f560cde4dd_1_277"/>
          <p:cNvSpPr/>
          <p:nvPr/>
        </p:nvSpPr>
        <p:spPr>
          <a:xfrm>
            <a:off x="6154737" y="4239004"/>
            <a:ext cx="53913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исследовать связи между признаками</a:t>
            </a:r>
            <a:endParaRPr b="0" i="0" sz="1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35" name="Google Shape;235;g3f560cde4dd_1_277"/>
          <p:cNvSpPr txBox="1"/>
          <p:nvPr/>
        </p:nvSpPr>
        <p:spPr>
          <a:xfrm>
            <a:off x="677325" y="1342150"/>
            <a:ext cx="10618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это исследование данных до обучения модели, которое решает следующие задачи</a:t>
            </a:r>
            <a:endParaRPr sz="18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560cde4dd_1_272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2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Ваша текстовая информация, определённый тезис, к которому  </a:t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179388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2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у вас нет изображения.</a:t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41" name="Google Shape;241;g3f560cde4dd_1_272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Выборка и генеральная совокупность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"/>
          <p:cNvSpPr/>
          <p:nvPr/>
        </p:nvSpPr>
        <p:spPr>
          <a:xfrm>
            <a:off x="658825" y="3831837"/>
            <a:ext cx="1494600" cy="461700"/>
          </a:xfrm>
          <a:prstGeom prst="roundRect">
            <a:avLst>
              <a:gd fmla="val 50000" name="adj"/>
            </a:avLst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47" name="Google Shape;247;p3"/>
          <p:cNvSpPr txBox="1"/>
          <p:nvPr>
            <p:ph type="title"/>
          </p:nvPr>
        </p:nvSpPr>
        <p:spPr>
          <a:xfrm>
            <a:off x="658825" y="2512150"/>
            <a:ext cx="5142900" cy="11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</a:pPr>
            <a:r>
              <a:rPr lang="ru-RU" sz="3600"/>
              <a:t>Разделитель:</a:t>
            </a:r>
            <a:endParaRPr sz="3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</a:pPr>
            <a:r>
              <a:rPr lang="ru-RU" sz="3600"/>
              <a:t>вариант с фото</a:t>
            </a:r>
            <a:endParaRPr sz="3600"/>
          </a:p>
        </p:txBody>
      </p:sp>
      <p:sp>
        <p:nvSpPr>
          <p:cNvPr id="248" name="Google Shape;248;p3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pic>
        <p:nvPicPr>
          <p:cNvPr id="249" name="Google Shape;249;p3"/>
          <p:cNvPicPr preferRelativeResize="0"/>
          <p:nvPr/>
        </p:nvPicPr>
        <p:blipFill rotWithShape="1">
          <a:blip r:embed="rId3">
            <a:alphaModFix/>
          </a:blip>
          <a:srcRect b="4329" l="-46406" r="54713" t="49717"/>
          <a:stretch/>
        </p:blipFill>
        <p:spPr>
          <a:xfrm>
            <a:off x="-149800" y="0"/>
            <a:ext cx="123418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"/>
          <p:cNvSpPr txBox="1"/>
          <p:nvPr/>
        </p:nvSpPr>
        <p:spPr>
          <a:xfrm>
            <a:off x="697317" y="3818648"/>
            <a:ext cx="1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раздел</a:t>
            </a:r>
            <a:endParaRPr b="0" i="0" sz="18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51" name="Google Shape;251;p3"/>
          <p:cNvSpPr/>
          <p:nvPr/>
        </p:nvSpPr>
        <p:spPr>
          <a:xfrm>
            <a:off x="2311600" y="3831837"/>
            <a:ext cx="461700" cy="4617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endParaRPr b="0" i="0" sz="1800" u="none" cap="none" strike="noStrike">
              <a:solidFill>
                <a:schemeClr val="dk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560cde4dd_1_264"/>
          <p:cNvSpPr txBox="1"/>
          <p:nvPr>
            <p:ph type="title"/>
          </p:nvPr>
        </p:nvSpPr>
        <p:spPr>
          <a:xfrm>
            <a:off x="658825" y="2764050"/>
            <a:ext cx="7139100" cy="13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4800"/>
              <a:t>Разделитель: вариант без фотографии</a:t>
            </a:r>
            <a:endParaRPr sz="4800"/>
          </a:p>
        </p:txBody>
      </p:sp>
      <p:sp>
        <p:nvSpPr>
          <p:cNvPr id="257" name="Google Shape;257;g3f560cde4dd_1_264"/>
          <p:cNvSpPr/>
          <p:nvPr/>
        </p:nvSpPr>
        <p:spPr>
          <a:xfrm>
            <a:off x="658825" y="4425325"/>
            <a:ext cx="1494600" cy="461700"/>
          </a:xfrm>
          <a:prstGeom prst="roundRect">
            <a:avLst>
              <a:gd fmla="val 50000" name="adj"/>
            </a:avLst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58" name="Google Shape;258;g3f560cde4dd_1_264"/>
          <p:cNvSpPr txBox="1"/>
          <p:nvPr/>
        </p:nvSpPr>
        <p:spPr>
          <a:xfrm>
            <a:off x="697317" y="4412137"/>
            <a:ext cx="1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раздел</a:t>
            </a:r>
            <a:endParaRPr b="0" i="0" sz="18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59" name="Google Shape;259;g3f560cde4dd_1_264"/>
          <p:cNvSpPr/>
          <p:nvPr/>
        </p:nvSpPr>
        <p:spPr>
          <a:xfrm>
            <a:off x="2311600" y="4425325"/>
            <a:ext cx="461700" cy="4617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endParaRPr b="0" i="0" sz="1800" u="none" cap="none" strike="noStrike">
              <a:solidFill>
                <a:schemeClr val="dk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f560cde4dd_1_290"/>
          <p:cNvSpPr txBox="1"/>
          <p:nvPr>
            <p:ph type="title"/>
          </p:nvPr>
        </p:nvSpPr>
        <p:spPr>
          <a:xfrm>
            <a:off x="603178" y="692150"/>
            <a:ext cx="92919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lang="ru-RU" sz="3600"/>
              <a:t>Решения других компаний</a:t>
            </a:r>
            <a:endParaRPr sz="3600"/>
          </a:p>
        </p:txBody>
      </p:sp>
      <p:sp>
        <p:nvSpPr>
          <p:cNvPr id="265" name="Google Shape;265;g3f560cde4dd_1_290"/>
          <p:cNvSpPr txBox="1"/>
          <p:nvPr>
            <p:ph idx="4294967295" type="body"/>
          </p:nvPr>
        </p:nvSpPr>
        <p:spPr>
          <a:xfrm>
            <a:off x="2818050" y="2019450"/>
            <a:ext cx="30879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b="1" lang="ru-RU" sz="2400"/>
              <a:t>Название компании</a:t>
            </a:r>
            <a:endParaRPr b="1" sz="24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lang="ru-RU" sz="1800"/>
              <a:t>Описание решения компании, если его можно сформулировать кратко, иллюстрируем изображением</a:t>
            </a:r>
            <a:endParaRPr sz="1800"/>
          </a:p>
        </p:txBody>
      </p:sp>
      <p:pic>
        <p:nvPicPr>
          <p:cNvPr id="266" name="Google Shape;266;g3f560cde4dd_1_290"/>
          <p:cNvPicPr preferRelativeResize="0"/>
          <p:nvPr/>
        </p:nvPicPr>
        <p:blipFill rotWithShape="1">
          <a:blip r:embed="rId3">
            <a:alphaModFix/>
          </a:blip>
          <a:srcRect b="46640" l="14948" r="54601" t="7683"/>
          <a:stretch/>
        </p:blipFill>
        <p:spPr>
          <a:xfrm>
            <a:off x="554152" y="1773251"/>
            <a:ext cx="1939311" cy="1939311"/>
          </a:xfrm>
          <a:custGeom>
            <a:rect b="b" l="l" r="r" t="t"/>
            <a:pathLst>
              <a:path extrusionOk="0" h="1622854" w="1622854">
                <a:moveTo>
                  <a:pt x="811427" y="0"/>
                </a:moveTo>
                <a:cubicBezTo>
                  <a:pt x="1259566" y="0"/>
                  <a:pt x="1622854" y="363288"/>
                  <a:pt x="1622854" y="811427"/>
                </a:cubicBezTo>
                <a:cubicBezTo>
                  <a:pt x="1622854" y="1259566"/>
                  <a:pt x="1259566" y="1622854"/>
                  <a:pt x="811427" y="1622854"/>
                </a:cubicBezTo>
                <a:cubicBezTo>
                  <a:pt x="363288" y="1622854"/>
                  <a:pt x="0" y="1259566"/>
                  <a:pt x="0" y="811427"/>
                </a:cubicBezTo>
                <a:cubicBezTo>
                  <a:pt x="0" y="363288"/>
                  <a:pt x="363288" y="0"/>
                  <a:pt x="81142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</p:pic>
      <p:sp>
        <p:nvSpPr>
          <p:cNvPr id="267" name="Google Shape;267;g3f560cde4dd_1_290"/>
          <p:cNvSpPr txBox="1"/>
          <p:nvPr>
            <p:ph idx="4294967295" type="body"/>
          </p:nvPr>
        </p:nvSpPr>
        <p:spPr>
          <a:xfrm>
            <a:off x="8448700" y="2019450"/>
            <a:ext cx="30879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b="1" lang="ru-RU" sz="2400"/>
              <a:t>Название компании</a:t>
            </a:r>
            <a:endParaRPr b="1" sz="24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lang="ru-RU" sz="1800"/>
              <a:t>Описание решения компании, если его можно сформулировать кратко, иллюстрируем изображением</a:t>
            </a:r>
            <a:endParaRPr sz="1800"/>
          </a:p>
        </p:txBody>
      </p:sp>
      <p:pic>
        <p:nvPicPr>
          <p:cNvPr id="268" name="Google Shape;268;g3f560cde4dd_1_290"/>
          <p:cNvPicPr preferRelativeResize="0"/>
          <p:nvPr/>
        </p:nvPicPr>
        <p:blipFill rotWithShape="1">
          <a:blip r:embed="rId3">
            <a:alphaModFix/>
          </a:blip>
          <a:srcRect b="46640" l="14948" r="54601" t="7683"/>
          <a:stretch/>
        </p:blipFill>
        <p:spPr>
          <a:xfrm>
            <a:off x="6184802" y="1773251"/>
            <a:ext cx="1939311" cy="1939311"/>
          </a:xfrm>
          <a:custGeom>
            <a:rect b="b" l="l" r="r" t="t"/>
            <a:pathLst>
              <a:path extrusionOk="0" h="1622854" w="1622854">
                <a:moveTo>
                  <a:pt x="811427" y="0"/>
                </a:moveTo>
                <a:cubicBezTo>
                  <a:pt x="1259566" y="0"/>
                  <a:pt x="1622854" y="363288"/>
                  <a:pt x="1622854" y="811427"/>
                </a:cubicBezTo>
                <a:cubicBezTo>
                  <a:pt x="1622854" y="1259566"/>
                  <a:pt x="1259566" y="1622854"/>
                  <a:pt x="811427" y="1622854"/>
                </a:cubicBezTo>
                <a:cubicBezTo>
                  <a:pt x="363288" y="1622854"/>
                  <a:pt x="0" y="1259566"/>
                  <a:pt x="0" y="811427"/>
                </a:cubicBezTo>
                <a:cubicBezTo>
                  <a:pt x="0" y="363288"/>
                  <a:pt x="363288" y="0"/>
                  <a:pt x="81142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560cde4dd_1_298"/>
          <p:cNvSpPr txBox="1"/>
          <p:nvPr>
            <p:ph type="title"/>
          </p:nvPr>
        </p:nvSpPr>
        <p:spPr>
          <a:xfrm>
            <a:off x="677325" y="692150"/>
            <a:ext cx="8624100" cy="63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Решения (название компании)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74" name="Google Shape;274;g3f560cde4dd_1_298"/>
          <p:cNvSpPr/>
          <p:nvPr/>
        </p:nvSpPr>
        <p:spPr>
          <a:xfrm>
            <a:off x="695825" y="2061175"/>
            <a:ext cx="5551200" cy="3683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Добавляем изображение для иллюстрации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Это же пространство можно заменить текстовыми описания характеристик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5" name="Google Shape;275;g3f560cde4dd_1_298"/>
          <p:cNvSpPr txBox="1"/>
          <p:nvPr/>
        </p:nvSpPr>
        <p:spPr>
          <a:xfrm>
            <a:off x="6541975" y="2390900"/>
            <a:ext cx="4954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Описание решения компании, формулируем кратко</a:t>
            </a:r>
            <a:endParaRPr b="0" i="0" sz="2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6" name="Google Shape;276;g3f560cde4dd_1_298"/>
          <p:cNvSpPr txBox="1"/>
          <p:nvPr/>
        </p:nvSpPr>
        <p:spPr>
          <a:xfrm>
            <a:off x="6541975" y="3947125"/>
            <a:ext cx="4954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Описание решения компании, формулируем кратко</a:t>
            </a:r>
            <a:endParaRPr b="0" i="0" sz="2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277" name="Google Shape;277;g3f560cde4dd_1_298"/>
          <p:cNvCxnSpPr/>
          <p:nvPr/>
        </p:nvCxnSpPr>
        <p:spPr>
          <a:xfrm rot="10800000">
            <a:off x="6579175" y="3591525"/>
            <a:ext cx="4879800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f560cde4dd_1_312"/>
          <p:cNvSpPr/>
          <p:nvPr/>
        </p:nvSpPr>
        <p:spPr>
          <a:xfrm>
            <a:off x="1651797" y="1805479"/>
            <a:ext cx="76101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Краткое описание вашей первой задачи, можно писать в одну 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или две строчки,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83" name="Google Shape;283;g3f560cde4dd_1_312"/>
          <p:cNvSpPr txBox="1"/>
          <p:nvPr>
            <p:ph type="title"/>
          </p:nvPr>
        </p:nvSpPr>
        <p:spPr>
          <a:xfrm>
            <a:off x="658825" y="590475"/>
            <a:ext cx="8457900" cy="6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solidFill>
                  <a:schemeClr val="dk2"/>
                </a:solidFill>
              </a:rPr>
              <a:t>Сегодня на занятии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84" name="Google Shape;284;g3f560cde4dd_1_312"/>
          <p:cNvSpPr/>
          <p:nvPr/>
        </p:nvSpPr>
        <p:spPr>
          <a:xfrm>
            <a:off x="658801" y="1826634"/>
            <a:ext cx="866700" cy="866700"/>
          </a:xfrm>
          <a:prstGeom prst="ellipse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g3f560cde4dd_1_312"/>
          <p:cNvSpPr/>
          <p:nvPr/>
        </p:nvSpPr>
        <p:spPr>
          <a:xfrm>
            <a:off x="1651797" y="2811004"/>
            <a:ext cx="76101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Краткое описание вашей первой задачи, можно писать в одну 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или две строчки,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86" name="Google Shape;286;g3f560cde4dd_1_312"/>
          <p:cNvSpPr/>
          <p:nvPr/>
        </p:nvSpPr>
        <p:spPr>
          <a:xfrm>
            <a:off x="658801" y="2832159"/>
            <a:ext cx="866700" cy="866700"/>
          </a:xfrm>
          <a:prstGeom prst="ellipse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2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g3f560cde4dd_1_312"/>
          <p:cNvSpPr/>
          <p:nvPr/>
        </p:nvSpPr>
        <p:spPr>
          <a:xfrm>
            <a:off x="1651797" y="3837679"/>
            <a:ext cx="76101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Краткое описание вашей первой задачи, можно писать в одну 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или две строчки,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88" name="Google Shape;288;g3f560cde4dd_1_312"/>
          <p:cNvSpPr/>
          <p:nvPr/>
        </p:nvSpPr>
        <p:spPr>
          <a:xfrm>
            <a:off x="658801" y="3858834"/>
            <a:ext cx="866700" cy="866700"/>
          </a:xfrm>
          <a:prstGeom prst="ellipse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g3f560cde4dd_1_312"/>
          <p:cNvSpPr/>
          <p:nvPr/>
        </p:nvSpPr>
        <p:spPr>
          <a:xfrm>
            <a:off x="9388200" y="1805479"/>
            <a:ext cx="2017800" cy="909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KPI</a:t>
            </a:r>
            <a:endParaRPr b="0" i="0" sz="2000" u="none" cap="none" strike="noStrike">
              <a:solidFill>
                <a:schemeClr val="dk2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90" name="Google Shape;290;g3f560cde4dd_1_312"/>
          <p:cNvSpPr/>
          <p:nvPr/>
        </p:nvSpPr>
        <p:spPr>
          <a:xfrm>
            <a:off x="9388200" y="2811004"/>
            <a:ext cx="2017800" cy="909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KPI</a:t>
            </a:r>
            <a:endParaRPr b="0" i="0" sz="2000" u="none" cap="none" strike="noStrike">
              <a:solidFill>
                <a:schemeClr val="dk2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91" name="Google Shape;291;g3f560cde4dd_1_312"/>
          <p:cNvSpPr/>
          <p:nvPr/>
        </p:nvSpPr>
        <p:spPr>
          <a:xfrm>
            <a:off x="9388200" y="3837679"/>
            <a:ext cx="2017800" cy="909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KPI</a:t>
            </a:r>
            <a:endParaRPr b="0" i="0" sz="2000" u="none" cap="none" strike="noStrike">
              <a:solidFill>
                <a:schemeClr val="dk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6" name="Google Shape;296;g3f560cde4dd_1_345"/>
          <p:cNvCxnSpPr/>
          <p:nvPr/>
        </p:nvCxnSpPr>
        <p:spPr>
          <a:xfrm rot="10800000">
            <a:off x="658800" y="2199500"/>
            <a:ext cx="11533200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297" name="Google Shape;297;g3f560cde4dd_1_345"/>
          <p:cNvSpPr txBox="1"/>
          <p:nvPr>
            <p:ph type="title"/>
          </p:nvPr>
        </p:nvSpPr>
        <p:spPr>
          <a:xfrm>
            <a:off x="677325" y="692150"/>
            <a:ext cx="85845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Таймлайн без акцентов</a:t>
            </a:r>
            <a:endParaRPr/>
          </a:p>
        </p:txBody>
      </p:sp>
      <p:sp>
        <p:nvSpPr>
          <p:cNvPr id="298" name="Google Shape;298;g3f560cde4dd_1_345"/>
          <p:cNvSpPr txBox="1"/>
          <p:nvPr/>
        </p:nvSpPr>
        <p:spPr>
          <a:xfrm>
            <a:off x="2792150" y="2386744"/>
            <a:ext cx="274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необходимая дата</a:t>
            </a:r>
            <a:endParaRPr b="0" i="0" sz="2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99" name="Google Shape;299;g3f560cde4dd_1_345"/>
          <p:cNvSpPr/>
          <p:nvPr/>
        </p:nvSpPr>
        <p:spPr>
          <a:xfrm>
            <a:off x="4054107" y="2103103"/>
            <a:ext cx="219300" cy="21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35700" lIns="35700" spcFirstLastPara="1" rIns="35700" wrap="square" tIns="3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g3f560cde4dd_1_345"/>
          <p:cNvSpPr/>
          <p:nvPr/>
        </p:nvSpPr>
        <p:spPr>
          <a:xfrm>
            <a:off x="7392265" y="2103103"/>
            <a:ext cx="219300" cy="21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35700" lIns="35700" spcFirstLastPara="1" rIns="35700" wrap="square" tIns="3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g3f560cde4dd_1_345"/>
          <p:cNvSpPr/>
          <p:nvPr/>
        </p:nvSpPr>
        <p:spPr>
          <a:xfrm>
            <a:off x="2884400" y="3422994"/>
            <a:ext cx="2558700" cy="77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02" name="Google Shape;302;g3f560cde4dd_1_345"/>
          <p:cNvSpPr txBox="1"/>
          <p:nvPr/>
        </p:nvSpPr>
        <p:spPr>
          <a:xfrm>
            <a:off x="3014449" y="3529194"/>
            <a:ext cx="22986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Описание особенностей этапа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303" name="Google Shape;303;g3f560cde4dd_1_345"/>
          <p:cNvCxnSpPr>
            <a:stCxn id="298" idx="2"/>
            <a:endCxn id="301" idx="0"/>
          </p:cNvCxnSpPr>
          <p:nvPr/>
        </p:nvCxnSpPr>
        <p:spPr>
          <a:xfrm>
            <a:off x="4163750" y="2848444"/>
            <a:ext cx="0" cy="57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304" name="Google Shape;304;g3f560cde4dd_1_345"/>
          <p:cNvSpPr/>
          <p:nvPr/>
        </p:nvSpPr>
        <p:spPr>
          <a:xfrm>
            <a:off x="2884400" y="4775744"/>
            <a:ext cx="2558700" cy="77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05" name="Google Shape;305;g3f560cde4dd_1_345"/>
          <p:cNvSpPr txBox="1"/>
          <p:nvPr/>
        </p:nvSpPr>
        <p:spPr>
          <a:xfrm>
            <a:off x="3014449" y="4881944"/>
            <a:ext cx="22986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предполагаемый KPI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306" name="Google Shape;306;g3f560cde4dd_1_345"/>
          <p:cNvCxnSpPr>
            <a:endCxn id="304" idx="0"/>
          </p:cNvCxnSpPr>
          <p:nvPr/>
        </p:nvCxnSpPr>
        <p:spPr>
          <a:xfrm>
            <a:off x="4163750" y="4201244"/>
            <a:ext cx="0" cy="57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307" name="Google Shape;307;g3f560cde4dd_1_345"/>
          <p:cNvSpPr txBox="1"/>
          <p:nvPr/>
        </p:nvSpPr>
        <p:spPr>
          <a:xfrm>
            <a:off x="6130317" y="2386744"/>
            <a:ext cx="274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необходимая дата</a:t>
            </a:r>
            <a:endParaRPr b="0" i="0" sz="2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08" name="Google Shape;308;g3f560cde4dd_1_345"/>
          <p:cNvSpPr/>
          <p:nvPr/>
        </p:nvSpPr>
        <p:spPr>
          <a:xfrm>
            <a:off x="6222567" y="3422994"/>
            <a:ext cx="2558700" cy="77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09" name="Google Shape;309;g3f560cde4dd_1_345"/>
          <p:cNvSpPr txBox="1"/>
          <p:nvPr/>
        </p:nvSpPr>
        <p:spPr>
          <a:xfrm>
            <a:off x="6352616" y="3529194"/>
            <a:ext cx="22986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Описание особенностей этапа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310" name="Google Shape;310;g3f560cde4dd_1_345"/>
          <p:cNvCxnSpPr>
            <a:stCxn id="307" idx="2"/>
            <a:endCxn id="308" idx="0"/>
          </p:cNvCxnSpPr>
          <p:nvPr/>
        </p:nvCxnSpPr>
        <p:spPr>
          <a:xfrm>
            <a:off x="7501917" y="2848444"/>
            <a:ext cx="0" cy="57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311" name="Google Shape;311;g3f560cde4dd_1_345"/>
          <p:cNvSpPr/>
          <p:nvPr/>
        </p:nvSpPr>
        <p:spPr>
          <a:xfrm>
            <a:off x="6222567" y="4775744"/>
            <a:ext cx="2558700" cy="77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12" name="Google Shape;312;g3f560cde4dd_1_345"/>
          <p:cNvSpPr txBox="1"/>
          <p:nvPr/>
        </p:nvSpPr>
        <p:spPr>
          <a:xfrm>
            <a:off x="6352616" y="4881944"/>
            <a:ext cx="22986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предполагаемый KPI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313" name="Google Shape;313;g3f560cde4dd_1_345"/>
          <p:cNvCxnSpPr>
            <a:endCxn id="311" idx="0"/>
          </p:cNvCxnSpPr>
          <p:nvPr/>
        </p:nvCxnSpPr>
        <p:spPr>
          <a:xfrm>
            <a:off x="7501917" y="4201244"/>
            <a:ext cx="0" cy="57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"/>
          <p:cNvSpPr txBox="1"/>
          <p:nvPr>
            <p:ph idx="1" type="body"/>
          </p:nvPr>
        </p:nvSpPr>
        <p:spPr>
          <a:xfrm>
            <a:off x="658825" y="1773301"/>
            <a:ext cx="54372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85750" lvl="0" marL="2857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lang="ru-RU" sz="2400"/>
              <a:t>Вывод 1</a:t>
            </a:r>
            <a:endParaRPr sz="2400"/>
          </a:p>
          <a:p>
            <a:pPr indent="-285750" lvl="0" marL="2857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lang="ru-RU" sz="2400"/>
              <a:t>Вывод 2</a:t>
            </a:r>
            <a:endParaRPr sz="2400"/>
          </a:p>
          <a:p>
            <a:pPr indent="-285750" lvl="0" marL="2857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lang="ru-RU" sz="2400"/>
              <a:t>Вывод 3</a:t>
            </a:r>
            <a:endParaRPr sz="2400"/>
          </a:p>
        </p:txBody>
      </p:sp>
      <p:sp>
        <p:nvSpPr>
          <p:cNvPr id="319" name="Google Shape;319;p4"/>
          <p:cNvSpPr txBox="1"/>
          <p:nvPr>
            <p:ph type="title"/>
          </p:nvPr>
        </p:nvSpPr>
        <p:spPr>
          <a:xfrm>
            <a:off x="639775" y="692156"/>
            <a:ext cx="5475300" cy="7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>Выводы</a:t>
            </a:r>
            <a:endParaRPr sz="3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560cde4dd_1_384"/>
          <p:cNvSpPr txBox="1"/>
          <p:nvPr>
            <p:ph type="title"/>
          </p:nvPr>
        </p:nvSpPr>
        <p:spPr>
          <a:xfrm>
            <a:off x="658825" y="2597850"/>
            <a:ext cx="7231500" cy="13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4800"/>
              <a:t>Разделитель: вариант без фотографии</a:t>
            </a:r>
            <a:endParaRPr sz="4800"/>
          </a:p>
        </p:txBody>
      </p:sp>
      <p:sp>
        <p:nvSpPr>
          <p:cNvPr id="325" name="Google Shape;325;g3f560cde4dd_1_384"/>
          <p:cNvSpPr/>
          <p:nvPr/>
        </p:nvSpPr>
        <p:spPr>
          <a:xfrm>
            <a:off x="658825" y="4253883"/>
            <a:ext cx="1494600" cy="461700"/>
          </a:xfrm>
          <a:prstGeom prst="roundRect">
            <a:avLst>
              <a:gd fmla="val 50000" name="adj"/>
            </a:avLst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26" name="Google Shape;326;g3f560cde4dd_1_384"/>
          <p:cNvSpPr txBox="1"/>
          <p:nvPr/>
        </p:nvSpPr>
        <p:spPr>
          <a:xfrm>
            <a:off x="697317" y="4240694"/>
            <a:ext cx="1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раздел</a:t>
            </a:r>
            <a:endParaRPr b="0" i="0" sz="18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27" name="Google Shape;327;g3f560cde4dd_1_384"/>
          <p:cNvSpPr/>
          <p:nvPr/>
        </p:nvSpPr>
        <p:spPr>
          <a:xfrm>
            <a:off x="2311600" y="4253883"/>
            <a:ext cx="461700" cy="4617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2</a:t>
            </a:r>
            <a:endParaRPr b="0" i="0" sz="1800" u="none" cap="none" strike="noStrike">
              <a:solidFill>
                <a:schemeClr val="dk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560cde4dd_1_391"/>
          <p:cNvSpPr txBox="1"/>
          <p:nvPr>
            <p:ph idx="1" type="body"/>
          </p:nvPr>
        </p:nvSpPr>
        <p:spPr>
          <a:xfrm>
            <a:off x="671500" y="1950100"/>
            <a:ext cx="4853400" cy="35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Ваша текстовая информация, определённый тезис, который иллюстрирует изображения.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Если нужен список: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ru-RU" sz="1800"/>
              <a:t>буллеты синим цветом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ru-RU" sz="1800"/>
              <a:t>по возможности маркированный список</a:t>
            </a:r>
            <a:endParaRPr sz="1800"/>
          </a:p>
        </p:txBody>
      </p:sp>
      <p:sp>
        <p:nvSpPr>
          <p:cNvPr id="333" name="Google Shape;333;g3f560cde4dd_1_391"/>
          <p:cNvSpPr txBox="1"/>
          <p:nvPr>
            <p:ph type="title"/>
          </p:nvPr>
        </p:nvSpPr>
        <p:spPr>
          <a:xfrm>
            <a:off x="671500" y="692150"/>
            <a:ext cx="5418600" cy="6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334" name="Google Shape;334;g3f560cde4dd_1_391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6520475" y="0"/>
            <a:ext cx="567153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f560cde4dd_1_398"/>
          <p:cNvSpPr txBox="1"/>
          <p:nvPr>
            <p:ph idx="1" type="body"/>
          </p:nvPr>
        </p:nvSpPr>
        <p:spPr>
          <a:xfrm>
            <a:off x="671500" y="1950100"/>
            <a:ext cx="4853400" cy="35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Если у вас несколько изображений на одном слайде, то располагайте их с небольшими отступами друг от друга. 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Выбирайте качественные изображения, чтобы они не портили общий вид презентации.</a:t>
            </a:r>
            <a:endParaRPr sz="1800"/>
          </a:p>
        </p:txBody>
      </p:sp>
      <p:sp>
        <p:nvSpPr>
          <p:cNvPr id="340" name="Google Shape;340;g3f560cde4dd_1_398"/>
          <p:cNvSpPr txBox="1"/>
          <p:nvPr>
            <p:ph type="title"/>
          </p:nvPr>
        </p:nvSpPr>
        <p:spPr>
          <a:xfrm>
            <a:off x="671500" y="692150"/>
            <a:ext cx="5418600" cy="6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341" name="Google Shape;341;g3f560cde4dd_1_398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9400376" y="0"/>
            <a:ext cx="2791622" cy="3375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g3f560cde4dd_1_398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6441885" y="0"/>
            <a:ext cx="2791622" cy="3375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g3f560cde4dd_1_398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9400376" y="3482379"/>
            <a:ext cx="2791622" cy="3375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g3f560cde4dd_1_398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6441885" y="3482379"/>
            <a:ext cx="2791622" cy="3375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f560cde4dd_1_407"/>
          <p:cNvSpPr txBox="1"/>
          <p:nvPr>
            <p:ph idx="1" type="body"/>
          </p:nvPr>
        </p:nvSpPr>
        <p:spPr>
          <a:xfrm>
            <a:off x="671500" y="1378840"/>
            <a:ext cx="4853400" cy="6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связь изображений можно показать стрелочками</a:t>
            </a:r>
            <a:endParaRPr sz="1800"/>
          </a:p>
        </p:txBody>
      </p:sp>
      <p:sp>
        <p:nvSpPr>
          <p:cNvPr id="350" name="Google Shape;350;g3f560cde4dd_1_407"/>
          <p:cNvSpPr txBox="1"/>
          <p:nvPr>
            <p:ph type="title"/>
          </p:nvPr>
        </p:nvSpPr>
        <p:spPr>
          <a:xfrm>
            <a:off x="671500" y="692150"/>
            <a:ext cx="5418600" cy="6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351" name="Google Shape;351;g3f560cde4dd_1_407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671501" y="2354740"/>
            <a:ext cx="2513500" cy="3039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g3f560cde4dd_1_407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7740526" y="2354740"/>
            <a:ext cx="2513500" cy="3039325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g3f560cde4dd_1_407"/>
          <p:cNvSpPr/>
          <p:nvPr/>
        </p:nvSpPr>
        <p:spPr>
          <a:xfrm>
            <a:off x="4361463" y="2341553"/>
            <a:ext cx="2202600" cy="3065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-RU" sz="16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Фото или описание того, </a:t>
            </a:r>
            <a:endParaRPr b="0" i="0" sz="16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-RU" sz="16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что было сделано</a:t>
            </a:r>
            <a:endParaRPr b="0" i="0" sz="16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354" name="Google Shape;354;g3f560cde4dd_1_407"/>
          <p:cNvCxnSpPr>
            <a:stCxn id="351" idx="3"/>
            <a:endCxn id="353" idx="1"/>
          </p:cNvCxnSpPr>
          <p:nvPr/>
        </p:nvCxnSpPr>
        <p:spPr>
          <a:xfrm>
            <a:off x="3185001" y="3874403"/>
            <a:ext cx="1176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355" name="Google Shape;355;g3f560cde4dd_1_407"/>
          <p:cNvCxnSpPr/>
          <p:nvPr/>
        </p:nvCxnSpPr>
        <p:spPr>
          <a:xfrm>
            <a:off x="6561247" y="3874428"/>
            <a:ext cx="1176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f560cde4dd_1_420"/>
          <p:cNvSpPr txBox="1"/>
          <p:nvPr>
            <p:ph idx="1" type="body"/>
          </p:nvPr>
        </p:nvSpPr>
        <p:spPr>
          <a:xfrm>
            <a:off x="671500" y="1267546"/>
            <a:ext cx="4853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можно брать фото без подписи</a:t>
            </a:r>
            <a:endParaRPr sz="1800"/>
          </a:p>
        </p:txBody>
      </p:sp>
      <p:sp>
        <p:nvSpPr>
          <p:cNvPr id="361" name="Google Shape;361;g3f560cde4dd_1_420"/>
          <p:cNvSpPr txBox="1"/>
          <p:nvPr>
            <p:ph type="title"/>
          </p:nvPr>
        </p:nvSpPr>
        <p:spPr>
          <a:xfrm>
            <a:off x="671500" y="692150"/>
            <a:ext cx="5418600" cy="5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362" name="Google Shape;362;g3f560cde4dd_1_420"/>
          <p:cNvPicPr preferRelativeResize="0"/>
          <p:nvPr/>
        </p:nvPicPr>
        <p:blipFill rotWithShape="1">
          <a:blip r:embed="rId3">
            <a:alphaModFix/>
          </a:blip>
          <a:srcRect b="20081" l="0" r="8307" t="34772"/>
          <a:stretch/>
        </p:blipFill>
        <p:spPr>
          <a:xfrm>
            <a:off x="671500" y="2055475"/>
            <a:ext cx="6303044" cy="344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g3f560cde4dd_1_420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7365987" y="2055475"/>
            <a:ext cx="2845488" cy="344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560cde4dd_1_432"/>
          <p:cNvSpPr txBox="1"/>
          <p:nvPr>
            <p:ph idx="1" type="body"/>
          </p:nvPr>
        </p:nvSpPr>
        <p:spPr>
          <a:xfrm>
            <a:off x="658825" y="1773276"/>
            <a:ext cx="5437200" cy="17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AutoNum type="arabicPeriod"/>
            </a:pPr>
            <a:r>
              <a:rPr lang="ru-RU" sz="2400"/>
              <a:t>Вывод 1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AutoNum type="arabicPeriod"/>
            </a:pPr>
            <a:r>
              <a:rPr lang="ru-RU" sz="2400"/>
              <a:t>Вывод 2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AutoNum type="arabicPeriod"/>
            </a:pPr>
            <a:r>
              <a:rPr lang="ru-RU" sz="2400"/>
              <a:t>Вывод 3</a:t>
            </a:r>
            <a:endParaRPr sz="2400"/>
          </a:p>
        </p:txBody>
      </p:sp>
      <p:sp>
        <p:nvSpPr>
          <p:cNvPr id="369" name="Google Shape;369;g3f560cde4dd_1_432"/>
          <p:cNvSpPr txBox="1"/>
          <p:nvPr>
            <p:ph type="title"/>
          </p:nvPr>
        </p:nvSpPr>
        <p:spPr>
          <a:xfrm>
            <a:off x="639775" y="692154"/>
            <a:ext cx="5475300" cy="9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>Выводы</a:t>
            </a:r>
            <a:endParaRPr sz="3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f560cde4dd_1_437"/>
          <p:cNvSpPr txBox="1"/>
          <p:nvPr>
            <p:ph type="title"/>
          </p:nvPr>
        </p:nvSpPr>
        <p:spPr>
          <a:xfrm>
            <a:off x="658825" y="2764050"/>
            <a:ext cx="7191900" cy="13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4800"/>
              <a:t>Разделитесь: вариант без фотографии</a:t>
            </a:r>
            <a:endParaRPr sz="4800"/>
          </a:p>
        </p:txBody>
      </p:sp>
      <p:sp>
        <p:nvSpPr>
          <p:cNvPr id="375" name="Google Shape;375;g3f560cde4dd_1_437"/>
          <p:cNvSpPr/>
          <p:nvPr/>
        </p:nvSpPr>
        <p:spPr>
          <a:xfrm>
            <a:off x="658825" y="4385758"/>
            <a:ext cx="1494600" cy="461700"/>
          </a:xfrm>
          <a:prstGeom prst="roundRect">
            <a:avLst>
              <a:gd fmla="val 50000" name="adj"/>
            </a:avLst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76" name="Google Shape;376;g3f560cde4dd_1_437"/>
          <p:cNvSpPr txBox="1"/>
          <p:nvPr/>
        </p:nvSpPr>
        <p:spPr>
          <a:xfrm>
            <a:off x="697317" y="4372569"/>
            <a:ext cx="1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раздел</a:t>
            </a:r>
            <a:endParaRPr b="0" i="0" sz="18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77" name="Google Shape;377;g3f560cde4dd_1_437"/>
          <p:cNvSpPr/>
          <p:nvPr/>
        </p:nvSpPr>
        <p:spPr>
          <a:xfrm>
            <a:off x="2311600" y="4385758"/>
            <a:ext cx="461700" cy="4617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1800" u="none" cap="none" strike="noStrike">
              <a:solidFill>
                <a:schemeClr val="dk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f560cde4dd_1_444"/>
          <p:cNvSpPr txBox="1"/>
          <p:nvPr>
            <p:ph type="title"/>
          </p:nvPr>
        </p:nvSpPr>
        <p:spPr>
          <a:xfrm>
            <a:off x="677325" y="692150"/>
            <a:ext cx="85845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graphicFrame>
        <p:nvGraphicFramePr>
          <p:cNvPr id="383" name="Google Shape;383;g3f560cde4dd_1_444"/>
          <p:cNvGraphicFramePr/>
          <p:nvPr/>
        </p:nvGraphicFramePr>
        <p:xfrm>
          <a:off x="677325" y="17848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{F843F1D2-55A4-40B0-9680-8E050C213701}</a:tableStyleId>
              </a:tblPr>
              <a:tblGrid>
                <a:gridCol w="951725"/>
                <a:gridCol w="4841075"/>
                <a:gridCol w="5063075"/>
              </a:tblGrid>
              <a:tr h="687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№</a:t>
                      </a:r>
                      <a:endParaRPr sz="1600" u="none" cap="none" strike="noStrike">
                        <a:solidFill>
                          <a:srgbClr val="FFFF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Название характеристики</a:t>
                      </a:r>
                      <a:endParaRPr sz="1600" u="none" cap="none" strike="noStrike">
                        <a:solidFill>
                          <a:srgbClr val="FFFF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Название характеристики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867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2272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1</a:t>
                      </a:r>
                      <a:endParaRPr sz="1600" u="none" cap="none" strike="noStrike">
                        <a:solidFill>
                          <a:srgbClr val="2272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Количество ячеек в таблице можно менять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Самое главное – верхнюю строчку оставлять синего цвета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7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2272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2</a:t>
                      </a:r>
                      <a:endParaRPr sz="1600" u="none" cap="none" strike="noStrike">
                        <a:solidFill>
                          <a:srgbClr val="2272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Номера пишем также синим цветом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Границы оставляем стандартными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7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2272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3</a:t>
                      </a:r>
                      <a:endParaRPr sz="1600" u="none" cap="none" strike="noStrike">
                        <a:solidFill>
                          <a:srgbClr val="2272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Размер шрифта в таблице – 14 пт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Размер ячеек меняем в зависимости от количества информации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f560cde4dd_1_466"/>
          <p:cNvSpPr txBox="1"/>
          <p:nvPr>
            <p:ph type="title"/>
          </p:nvPr>
        </p:nvSpPr>
        <p:spPr>
          <a:xfrm>
            <a:off x="677325" y="692150"/>
            <a:ext cx="85845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sp>
        <p:nvSpPr>
          <p:cNvPr id="389" name="Google Shape;389;g3f560cde4dd_1_466"/>
          <p:cNvSpPr txBox="1"/>
          <p:nvPr/>
        </p:nvSpPr>
        <p:spPr>
          <a:xfrm>
            <a:off x="658825" y="1365650"/>
            <a:ext cx="5418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схемы показываем прямоугольниками 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с закруглёнными углами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90" name="Google Shape;390;g3f560cde4dd_1_466"/>
          <p:cNvSpPr/>
          <p:nvPr/>
        </p:nvSpPr>
        <p:spPr>
          <a:xfrm>
            <a:off x="693913" y="3589332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2272FF"/>
          </a:solidFill>
          <a:ln cap="flat" cmpd="sng" w="137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1" name="Google Shape;391;g3f560cde4dd_1_466"/>
          <p:cNvCxnSpPr/>
          <p:nvPr/>
        </p:nvCxnSpPr>
        <p:spPr>
          <a:xfrm flipH="1" rot="10800000">
            <a:off x="2872452" y="2857242"/>
            <a:ext cx="1899300" cy="10632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2" name="Google Shape;392;g3f560cde4dd_1_466"/>
          <p:cNvSpPr/>
          <p:nvPr/>
        </p:nvSpPr>
        <p:spPr>
          <a:xfrm>
            <a:off x="4771736" y="2432850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3" name="Google Shape;393;g3f560cde4dd_1_466"/>
          <p:cNvCxnSpPr/>
          <p:nvPr/>
        </p:nvCxnSpPr>
        <p:spPr>
          <a:xfrm>
            <a:off x="3813385" y="3920442"/>
            <a:ext cx="993300" cy="0"/>
          </a:xfrm>
          <a:prstGeom prst="straightConnector1">
            <a:avLst/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4" name="Google Shape;394;g3f560cde4dd_1_466"/>
          <p:cNvSpPr/>
          <p:nvPr/>
        </p:nvSpPr>
        <p:spPr>
          <a:xfrm>
            <a:off x="4806824" y="3454799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5" name="Google Shape;395;g3f560cde4dd_1_466"/>
          <p:cNvCxnSpPr/>
          <p:nvPr/>
        </p:nvCxnSpPr>
        <p:spPr>
          <a:xfrm>
            <a:off x="2846218" y="3920442"/>
            <a:ext cx="1951800" cy="10803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6" name="Google Shape;396;g3f560cde4dd_1_466"/>
          <p:cNvSpPr/>
          <p:nvPr/>
        </p:nvSpPr>
        <p:spPr>
          <a:xfrm>
            <a:off x="4806824" y="4476748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7" name="Google Shape;397;g3f560cde4dd_1_466"/>
          <p:cNvCxnSpPr/>
          <p:nvPr/>
        </p:nvCxnSpPr>
        <p:spPr>
          <a:xfrm flipH="1" rot="10800000">
            <a:off x="7020451" y="2857242"/>
            <a:ext cx="1899300" cy="10632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8" name="Google Shape;398;g3f560cde4dd_1_466"/>
          <p:cNvSpPr/>
          <p:nvPr/>
        </p:nvSpPr>
        <p:spPr>
          <a:xfrm>
            <a:off x="8919735" y="2432850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9" name="Google Shape;399;g3f560cde4dd_1_466"/>
          <p:cNvCxnSpPr/>
          <p:nvPr/>
        </p:nvCxnSpPr>
        <p:spPr>
          <a:xfrm>
            <a:off x="7961384" y="3920442"/>
            <a:ext cx="993300" cy="0"/>
          </a:xfrm>
          <a:prstGeom prst="straightConnector1">
            <a:avLst/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0" name="Google Shape;400;g3f560cde4dd_1_466"/>
          <p:cNvSpPr/>
          <p:nvPr/>
        </p:nvSpPr>
        <p:spPr>
          <a:xfrm>
            <a:off x="8954822" y="3454799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1" name="Google Shape;401;g3f560cde4dd_1_466"/>
          <p:cNvCxnSpPr/>
          <p:nvPr/>
        </p:nvCxnSpPr>
        <p:spPr>
          <a:xfrm>
            <a:off x="6994216" y="3920442"/>
            <a:ext cx="1951800" cy="10803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g3f560cde4dd_1_466"/>
          <p:cNvSpPr/>
          <p:nvPr/>
        </p:nvSpPr>
        <p:spPr>
          <a:xfrm>
            <a:off x="8954822" y="4476748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g3f560cde4dd_1_466"/>
          <p:cNvSpPr txBox="1"/>
          <p:nvPr/>
        </p:nvSpPr>
        <p:spPr>
          <a:xfrm>
            <a:off x="658825" y="4687852"/>
            <a:ext cx="2178600" cy="13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32150" lIns="132150" spcFirstLastPara="1" rIns="132150" wrap="square" tIns="1321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24"/>
              <a:buFont typeface="Arial"/>
              <a:buNone/>
            </a:pPr>
            <a:r>
              <a:rPr b="0" i="0" lang="ru-RU" sz="1824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в основном блоке делаем заливку синим цветом</a:t>
            </a:r>
            <a:endParaRPr b="0" i="0" sz="1824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f560cde4dd_1_486"/>
          <p:cNvSpPr txBox="1"/>
          <p:nvPr>
            <p:ph type="title"/>
          </p:nvPr>
        </p:nvSpPr>
        <p:spPr>
          <a:xfrm>
            <a:off x="677325" y="692150"/>
            <a:ext cx="85845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sp>
        <p:nvSpPr>
          <p:cNvPr id="409" name="Google Shape;409;g3f560cde4dd_1_486"/>
          <p:cNvSpPr/>
          <p:nvPr/>
        </p:nvSpPr>
        <p:spPr>
          <a:xfrm>
            <a:off x="667992" y="2202452"/>
            <a:ext cx="2301600" cy="8061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700" lIns="122700" spcFirstLastPara="1" rIns="122700" wrap="square" tIns="12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9"/>
              <a:buFont typeface="Arial"/>
              <a:buNone/>
            </a:pPr>
            <a:r>
              <a:t/>
            </a:r>
            <a:endParaRPr b="0" i="0" sz="187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g3f560cde4dd_1_486"/>
          <p:cNvSpPr txBox="1"/>
          <p:nvPr/>
        </p:nvSpPr>
        <p:spPr>
          <a:xfrm>
            <a:off x="3689663" y="3392725"/>
            <a:ext cx="47940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700" lIns="122700" spcFirstLastPara="1" rIns="122700" wrap="square" tIns="12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связь также можно показать стрелочками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411" name="Google Shape;411;g3f560cde4dd_1_486"/>
          <p:cNvCxnSpPr/>
          <p:nvPr/>
        </p:nvCxnSpPr>
        <p:spPr>
          <a:xfrm>
            <a:off x="3387012" y="2588613"/>
            <a:ext cx="1176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12" name="Google Shape;412;g3f560cde4dd_1_486"/>
          <p:cNvSpPr/>
          <p:nvPr/>
        </p:nvSpPr>
        <p:spPr>
          <a:xfrm>
            <a:off x="4981067" y="2202456"/>
            <a:ext cx="2301600" cy="8061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700" lIns="122700" spcFirstLastPara="1" rIns="122700" wrap="square" tIns="12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9"/>
              <a:buFont typeface="Arial"/>
              <a:buNone/>
            </a:pPr>
            <a:r>
              <a:t/>
            </a:r>
            <a:endParaRPr b="0" i="0" sz="187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13" name="Google Shape;413;g3f560cde4dd_1_486"/>
          <p:cNvCxnSpPr/>
          <p:nvPr/>
        </p:nvCxnSpPr>
        <p:spPr>
          <a:xfrm>
            <a:off x="7664208" y="2605490"/>
            <a:ext cx="1176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14" name="Google Shape;414;g3f560cde4dd_1_486"/>
          <p:cNvSpPr/>
          <p:nvPr/>
        </p:nvSpPr>
        <p:spPr>
          <a:xfrm>
            <a:off x="9222412" y="2185579"/>
            <a:ext cx="2301600" cy="8061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700" lIns="122700" spcFirstLastPara="1" rIns="122700" wrap="square" tIns="12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9"/>
              <a:buFont typeface="Arial"/>
              <a:buNone/>
            </a:pPr>
            <a:r>
              <a:t/>
            </a:r>
            <a:endParaRPr b="0" i="0" sz="187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f560cde4dd_1_513"/>
          <p:cNvSpPr/>
          <p:nvPr/>
        </p:nvSpPr>
        <p:spPr>
          <a:xfrm>
            <a:off x="658825" y="1773250"/>
            <a:ext cx="31722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f560cde4dd_1_513"/>
          <p:cNvSpPr txBox="1"/>
          <p:nvPr>
            <p:ph type="title"/>
          </p:nvPr>
        </p:nvSpPr>
        <p:spPr>
          <a:xfrm>
            <a:off x="677334" y="692150"/>
            <a:ext cx="5874900" cy="64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Результаты проекта</a:t>
            </a:r>
            <a:endParaRPr/>
          </a:p>
        </p:txBody>
      </p:sp>
      <p:sp>
        <p:nvSpPr>
          <p:cNvPr id="421" name="Google Shape;421;g3f560cde4dd_1_513"/>
          <p:cNvSpPr txBox="1"/>
          <p:nvPr/>
        </p:nvSpPr>
        <p:spPr>
          <a:xfrm>
            <a:off x="18692059" y="4674436"/>
            <a:ext cx="4304400" cy="6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g3f560cde4dd_1_513"/>
          <p:cNvSpPr txBox="1"/>
          <p:nvPr/>
        </p:nvSpPr>
        <p:spPr>
          <a:xfrm>
            <a:off x="1190425" y="2130550"/>
            <a:ext cx="2109000" cy="16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13548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50</a:t>
            </a:r>
            <a:endParaRPr b="0" i="0" sz="79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g3f560cde4dd_1_513"/>
          <p:cNvSpPr txBox="1"/>
          <p:nvPr/>
        </p:nvSpPr>
        <p:spPr>
          <a:xfrm>
            <a:off x="860125" y="3881275"/>
            <a:ext cx="27696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24" name="Google Shape;424;g3f560cde4dd_1_513"/>
          <p:cNvSpPr/>
          <p:nvPr/>
        </p:nvSpPr>
        <p:spPr>
          <a:xfrm>
            <a:off x="4610563" y="1773250"/>
            <a:ext cx="31722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g3f560cde4dd_1_513"/>
          <p:cNvSpPr txBox="1"/>
          <p:nvPr/>
        </p:nvSpPr>
        <p:spPr>
          <a:xfrm>
            <a:off x="5142163" y="2130550"/>
            <a:ext cx="2109000" cy="16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13548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32</a:t>
            </a:r>
            <a:endParaRPr b="0" i="0" sz="79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3f560cde4dd_1_513"/>
          <p:cNvSpPr txBox="1"/>
          <p:nvPr/>
        </p:nvSpPr>
        <p:spPr>
          <a:xfrm>
            <a:off x="4811863" y="3881275"/>
            <a:ext cx="27696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27" name="Google Shape;427;g3f560cde4dd_1_513"/>
          <p:cNvSpPr/>
          <p:nvPr/>
        </p:nvSpPr>
        <p:spPr>
          <a:xfrm>
            <a:off x="8361000" y="1773250"/>
            <a:ext cx="31722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g3f560cde4dd_1_513"/>
          <p:cNvSpPr txBox="1"/>
          <p:nvPr/>
        </p:nvSpPr>
        <p:spPr>
          <a:xfrm>
            <a:off x="8892600" y="2130550"/>
            <a:ext cx="2109000" cy="16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13548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18</a:t>
            </a:r>
            <a:endParaRPr b="0" i="0" sz="79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g3f560cde4dd_1_513"/>
          <p:cNvSpPr txBox="1"/>
          <p:nvPr/>
        </p:nvSpPr>
        <p:spPr>
          <a:xfrm>
            <a:off x="8562300" y="3881275"/>
            <a:ext cx="27696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f560cde4dd_1_540"/>
          <p:cNvSpPr/>
          <p:nvPr/>
        </p:nvSpPr>
        <p:spPr>
          <a:xfrm>
            <a:off x="658825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g3f560cde4dd_1_540"/>
          <p:cNvSpPr txBox="1"/>
          <p:nvPr>
            <p:ph type="title"/>
          </p:nvPr>
        </p:nvSpPr>
        <p:spPr>
          <a:xfrm>
            <a:off x="677334" y="692150"/>
            <a:ext cx="5874900" cy="64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Результаты проекта</a:t>
            </a:r>
            <a:endParaRPr/>
          </a:p>
        </p:txBody>
      </p:sp>
      <p:sp>
        <p:nvSpPr>
          <p:cNvPr id="436" name="Google Shape;436;g3f560cde4dd_1_540"/>
          <p:cNvSpPr txBox="1"/>
          <p:nvPr/>
        </p:nvSpPr>
        <p:spPr>
          <a:xfrm>
            <a:off x="18692059" y="4674436"/>
            <a:ext cx="4304400" cy="6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g3f560cde4dd_1_540"/>
          <p:cNvSpPr txBox="1"/>
          <p:nvPr/>
        </p:nvSpPr>
        <p:spPr>
          <a:xfrm>
            <a:off x="1127648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9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10</a:t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g3f560cde4dd_1_540"/>
          <p:cNvSpPr txBox="1"/>
          <p:nvPr/>
        </p:nvSpPr>
        <p:spPr>
          <a:xfrm>
            <a:off x="806413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39" name="Google Shape;439;g3f560cde4dd_1_540"/>
          <p:cNvSpPr/>
          <p:nvPr/>
        </p:nvSpPr>
        <p:spPr>
          <a:xfrm>
            <a:off x="3502850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g3f560cde4dd_1_540"/>
          <p:cNvSpPr txBox="1"/>
          <p:nvPr/>
        </p:nvSpPr>
        <p:spPr>
          <a:xfrm>
            <a:off x="3971673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9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40</a:t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g3f560cde4dd_1_540"/>
          <p:cNvSpPr txBox="1"/>
          <p:nvPr/>
        </p:nvSpPr>
        <p:spPr>
          <a:xfrm>
            <a:off x="3650438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2" name="Google Shape;442;g3f560cde4dd_1_540"/>
          <p:cNvSpPr/>
          <p:nvPr/>
        </p:nvSpPr>
        <p:spPr>
          <a:xfrm>
            <a:off x="6355363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g3f560cde4dd_1_540"/>
          <p:cNvSpPr txBox="1"/>
          <p:nvPr/>
        </p:nvSpPr>
        <p:spPr>
          <a:xfrm>
            <a:off x="6824186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9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32</a:t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g3f560cde4dd_1_540"/>
          <p:cNvSpPr txBox="1"/>
          <p:nvPr/>
        </p:nvSpPr>
        <p:spPr>
          <a:xfrm>
            <a:off x="6502950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5" name="Google Shape;445;g3f560cde4dd_1_540"/>
          <p:cNvSpPr/>
          <p:nvPr/>
        </p:nvSpPr>
        <p:spPr>
          <a:xfrm>
            <a:off x="9207900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g3f560cde4dd_1_540"/>
          <p:cNvSpPr txBox="1"/>
          <p:nvPr/>
        </p:nvSpPr>
        <p:spPr>
          <a:xfrm>
            <a:off x="9676723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9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18</a:t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3f560cde4dd_1_540"/>
          <p:cNvSpPr txBox="1"/>
          <p:nvPr/>
        </p:nvSpPr>
        <p:spPr>
          <a:xfrm>
            <a:off x="9355488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f560cde4dd_1_563"/>
          <p:cNvSpPr/>
          <p:nvPr/>
        </p:nvSpPr>
        <p:spPr>
          <a:xfrm>
            <a:off x="677325" y="1878775"/>
            <a:ext cx="4088400" cy="40368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3682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3375" lIns="66775" spcFirstLastPara="1" rIns="66775" wrap="square" tIns="333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5"/>
              <a:buFont typeface="Arial"/>
              <a:buNone/>
            </a:pPr>
            <a:r>
              <a:t/>
            </a:r>
            <a:endParaRPr b="0" i="0" sz="131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g3f560cde4dd_1_563"/>
          <p:cNvSpPr txBox="1"/>
          <p:nvPr>
            <p:ph type="title"/>
          </p:nvPr>
        </p:nvSpPr>
        <p:spPr>
          <a:xfrm>
            <a:off x="677325" y="692150"/>
            <a:ext cx="8848200" cy="7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Результаты проекта</a:t>
            </a:r>
            <a:endParaRPr/>
          </a:p>
        </p:txBody>
      </p:sp>
      <p:sp>
        <p:nvSpPr>
          <p:cNvPr id="454" name="Google Shape;454;g3f560cde4dd_1_563"/>
          <p:cNvSpPr txBox="1"/>
          <p:nvPr/>
        </p:nvSpPr>
        <p:spPr>
          <a:xfrm>
            <a:off x="18692059" y="4674436"/>
            <a:ext cx="4304400" cy="6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g3f560cde4dd_1_563"/>
          <p:cNvSpPr txBox="1"/>
          <p:nvPr/>
        </p:nvSpPr>
        <p:spPr>
          <a:xfrm>
            <a:off x="1362441" y="2339256"/>
            <a:ext cx="2718000" cy="2154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460"/>
              <a:buFont typeface="Arial"/>
              <a:buNone/>
            </a:pPr>
            <a:r>
              <a:rPr b="1" i="0" lang="ru-RU" sz="1746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50</a:t>
            </a:r>
            <a:endParaRPr b="0" i="0" sz="1023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g3f560cde4dd_1_563"/>
          <p:cNvSpPr txBox="1"/>
          <p:nvPr/>
        </p:nvSpPr>
        <p:spPr>
          <a:xfrm>
            <a:off x="936757" y="4595557"/>
            <a:ext cx="3569400" cy="7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61"/>
              <a:buFont typeface="Arial"/>
              <a:buNone/>
            </a:pPr>
            <a:r>
              <a:rPr b="0" i="0" lang="ru-RU" sz="2005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2005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61"/>
              <a:buFont typeface="Arial"/>
              <a:buNone/>
            </a:pPr>
            <a:r>
              <a:rPr b="0" i="0" lang="ru-RU" sz="2005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2005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57" name="Google Shape;457;g3f560cde4dd_1_563"/>
          <p:cNvSpPr txBox="1"/>
          <p:nvPr/>
        </p:nvSpPr>
        <p:spPr>
          <a:xfrm>
            <a:off x="5296175" y="3346225"/>
            <a:ext cx="5284500" cy="11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Здесь можно оставить более подробную информацию о показателе, рассказать что-то дополнительно.</a:t>
            </a:r>
            <a:endParaRPr b="0" i="0" sz="2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f560cde4dd_1_580"/>
          <p:cNvSpPr/>
          <p:nvPr/>
        </p:nvSpPr>
        <p:spPr>
          <a:xfrm>
            <a:off x="658750" y="1850128"/>
            <a:ext cx="53658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Расписываем результат нашего проекта словами.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g3f560cde4dd_1_580"/>
          <p:cNvSpPr/>
          <p:nvPr/>
        </p:nvSpPr>
        <p:spPr>
          <a:xfrm>
            <a:off x="6141974" y="1852443"/>
            <a:ext cx="53913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Расписываем результат нашего проекта словами.</a:t>
            </a:r>
            <a:endParaRPr b="0" i="0" sz="20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64" name="Google Shape;464;g3f560cde4dd_1_580"/>
          <p:cNvSpPr txBox="1"/>
          <p:nvPr>
            <p:ph type="title"/>
          </p:nvPr>
        </p:nvSpPr>
        <p:spPr>
          <a:xfrm>
            <a:off x="677325" y="692150"/>
            <a:ext cx="8624100" cy="7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Результаты проекта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465" name="Google Shape;465;g3f560cde4dd_1_580"/>
          <p:cNvSpPr/>
          <p:nvPr/>
        </p:nvSpPr>
        <p:spPr>
          <a:xfrm>
            <a:off x="658750" y="3935654"/>
            <a:ext cx="53658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Расписываем результат нашего проекта словами.</a:t>
            </a:r>
            <a:endParaRPr b="0" i="0" sz="20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66" name="Google Shape;466;g3f560cde4dd_1_580"/>
          <p:cNvSpPr/>
          <p:nvPr/>
        </p:nvSpPr>
        <p:spPr>
          <a:xfrm>
            <a:off x="6141974" y="3935654"/>
            <a:ext cx="53913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Расписываем результат нашего проекта словами.</a:t>
            </a:r>
            <a:endParaRPr b="0" i="0" sz="20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f560cde4dd_1_588"/>
          <p:cNvSpPr txBox="1"/>
          <p:nvPr>
            <p:ph idx="1" type="body"/>
          </p:nvPr>
        </p:nvSpPr>
        <p:spPr>
          <a:xfrm>
            <a:off x="658825" y="1773276"/>
            <a:ext cx="5437200" cy="17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Char char="●"/>
            </a:pPr>
            <a:r>
              <a:rPr lang="ru-RU" sz="2400"/>
              <a:t>Вывод 1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Char char="●"/>
            </a:pPr>
            <a:r>
              <a:rPr lang="ru-RU" sz="2400"/>
              <a:t>Вывод 2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Char char="●"/>
            </a:pPr>
            <a:r>
              <a:rPr lang="ru-RU" sz="2400"/>
              <a:t>Вывод 3</a:t>
            </a:r>
            <a:endParaRPr sz="2400"/>
          </a:p>
        </p:txBody>
      </p:sp>
      <p:sp>
        <p:nvSpPr>
          <p:cNvPr id="472" name="Google Shape;472;g3f560cde4dd_1_588"/>
          <p:cNvSpPr txBox="1"/>
          <p:nvPr>
            <p:ph type="title"/>
          </p:nvPr>
        </p:nvSpPr>
        <p:spPr>
          <a:xfrm>
            <a:off x="639775" y="692154"/>
            <a:ext cx="5475300" cy="9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>Выводы</a:t>
            </a:r>
            <a:endParaRPr sz="3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f560cde4dd_1_593"/>
          <p:cNvSpPr/>
          <p:nvPr/>
        </p:nvSpPr>
        <p:spPr>
          <a:xfrm>
            <a:off x="1651788" y="1515333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Узнали…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78" name="Google Shape;478;g3f560cde4dd_1_593"/>
          <p:cNvSpPr txBox="1"/>
          <p:nvPr>
            <p:ph type="title"/>
          </p:nvPr>
        </p:nvSpPr>
        <p:spPr>
          <a:xfrm>
            <a:off x="658825" y="590475"/>
            <a:ext cx="8457900" cy="5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solidFill>
                  <a:schemeClr val="dk2"/>
                </a:solidFill>
              </a:rPr>
              <a:t>Итоги занятия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479" name="Google Shape;479;g3f560cde4dd_1_593"/>
          <p:cNvSpPr/>
          <p:nvPr/>
        </p:nvSpPr>
        <p:spPr>
          <a:xfrm>
            <a:off x="658801" y="1536488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g3f560cde4dd_1_593"/>
          <p:cNvSpPr/>
          <p:nvPr/>
        </p:nvSpPr>
        <p:spPr>
          <a:xfrm>
            <a:off x="1651788" y="2520858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Рассмотрели…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81" name="Google Shape;481;g3f560cde4dd_1_593"/>
          <p:cNvSpPr/>
          <p:nvPr/>
        </p:nvSpPr>
        <p:spPr>
          <a:xfrm>
            <a:off x="658801" y="2542013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g3f560cde4dd_1_593"/>
          <p:cNvSpPr/>
          <p:nvPr/>
        </p:nvSpPr>
        <p:spPr>
          <a:xfrm>
            <a:off x="1651788" y="3547533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Поняли…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83" name="Google Shape;483;g3f560cde4dd_1_593"/>
          <p:cNvSpPr/>
          <p:nvPr/>
        </p:nvSpPr>
        <p:spPr>
          <a:xfrm>
            <a:off x="658801" y="3568688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g3f560cde4dd_1_593"/>
          <p:cNvSpPr/>
          <p:nvPr/>
        </p:nvSpPr>
        <p:spPr>
          <a:xfrm>
            <a:off x="1651788" y="4574208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Разобрались…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85" name="Google Shape;485;g3f560cde4dd_1_593"/>
          <p:cNvSpPr/>
          <p:nvPr/>
        </p:nvSpPr>
        <p:spPr>
          <a:xfrm>
            <a:off x="658801" y="4595363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g3f560cde4dd_1_593"/>
          <p:cNvSpPr/>
          <p:nvPr/>
        </p:nvSpPr>
        <p:spPr>
          <a:xfrm>
            <a:off x="1651788" y="5579733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Попробовали…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87" name="Google Shape;487;g3f560cde4dd_1_593"/>
          <p:cNvSpPr/>
          <p:nvPr/>
        </p:nvSpPr>
        <p:spPr>
          <a:xfrm>
            <a:off x="658801" y="5600888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f560cde4dd_1_607"/>
          <p:cNvSpPr txBox="1"/>
          <p:nvPr>
            <p:ph type="title"/>
          </p:nvPr>
        </p:nvSpPr>
        <p:spPr>
          <a:xfrm>
            <a:off x="603172" y="692150"/>
            <a:ext cx="46215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lang="ru-RU" sz="3600"/>
              <a:t>Рефлексия</a:t>
            </a:r>
            <a:endParaRPr sz="3600"/>
          </a:p>
        </p:txBody>
      </p:sp>
      <p:pic>
        <p:nvPicPr>
          <p:cNvPr id="493" name="Google Shape;493;g3f560cde4dd_1_6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29997" y="1712865"/>
            <a:ext cx="5147672" cy="4653837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g3f560cde4dd_1_607"/>
          <p:cNvSpPr txBox="1"/>
          <p:nvPr/>
        </p:nvSpPr>
        <p:spPr>
          <a:xfrm>
            <a:off x="658825" y="1746873"/>
            <a:ext cx="6150000" cy="169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b="0" i="0" lang="ru-RU" sz="2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Что теперь смогу использовать в работе?</a:t>
            </a:r>
            <a:endParaRPr b="0" i="0" sz="22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  <a:p>
            <a:pPr indent="-3683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b="0" i="0" lang="ru-RU" sz="2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Что изменилось? Раньше я думал(а), что…, а теперь…</a:t>
            </a:r>
            <a:endParaRPr b="0" i="0" sz="22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  <a:p>
            <a:pPr indent="-3683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b="0" i="0" lang="ru-RU" sz="2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Какие вопросы у меня остались?</a:t>
            </a:r>
            <a:endParaRPr b="0" i="0" sz="22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f560cde4dd_1_614"/>
          <p:cNvSpPr txBox="1"/>
          <p:nvPr>
            <p:ph type="title"/>
          </p:nvPr>
        </p:nvSpPr>
        <p:spPr>
          <a:xfrm>
            <a:off x="658825" y="2837990"/>
            <a:ext cx="5475300" cy="1182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ru-RU" sz="4800">
                <a:solidFill>
                  <a:schemeClr val="dk2"/>
                </a:solidFill>
              </a:rPr>
              <a:t>Домашнее задание</a:t>
            </a:r>
            <a:endParaRPr sz="4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2020-08-24T10:59:58Z</dcterms:created>
  <dc:creator>MIEM HSE course</dc:creator>
</cp:coreProperties>
</file>